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ab03f71d-9ecb-7d88-5440-0b59ada99f1e}">
          <p14:sldIdLst>
            <p14:sldId id="256"/>
            <p14:sldId id="257"/>
          </p14:sldIdLst>
        </p14:section>
        <p14:section name="The problem" id="{6cba0a2c-0878-0827-2d0e-dade8d807399}">
          <p14:sldIdLst>
            <p14:sldId id="258"/>
            <p14:sldId id="259"/>
            <p14:sldId id="260"/>
          </p14:sldIdLst>
        </p14:section>
        <p14:section name="Halden" id="{40472e20-80f2-3b1f-ff81-102c21bea662}">
          <p14:sldIdLst>
            <p14:sldId id="261"/>
            <p14:sldId id="262"/>
            <p14:sldId id="263"/>
            <p14:sldId id="264"/>
            <p14:sldId id="265"/>
          </p14:sldIdLst>
        </p14:section>
        <p14:section name="Trust" id="{e51556eb-6811-b201-5009-73fd66f0a266}">
          <p14:sldIdLst>
            <p14:sldId id="266"/>
            <p14:sldId id="267"/>
            <p14:sldId id="268"/>
          </p14:sldIdLst>
        </p14:section>
        <p14:section name="Pilot" id="{89a43c37-8a25-3efd-d389-009b8b59906d}">
          <p14:sldIdLst>
            <p14:sldId id="269"/>
            <p14:sldId id="270"/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Arabic wordmark and tagline set in IBM Plex Sans Arabic. The tagline must be reviewed by a native Arabic speaker before this deck is shown.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H_DARK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H_COVER-image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H_DIVIDER-image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H_END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HALDEN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3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b="1" spc="3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SECTION · SUJET</a:t>
            </a:r>
            <a:endParaRPr lang="en-US" sz="9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640080"/>
            <a:ext cx="11094415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2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Titre d'action : la conclusion de la slide en une phrase</a:t>
            </a:r>
            <a:endParaRPr lang="en-US" sz="20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1828800" y="6400800"/>
            <a:ext cx="896112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 : organisme, document, date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B6472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_DARK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HALDEN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30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b="1" spc="30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SECTION · SUJET</a:t>
            </a:r>
            <a:endParaRPr lang="en-US" sz="9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640080"/>
            <a:ext cx="11094415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20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Titre d'action : la conclusion de la slide en une phrase</a:t>
            </a:r>
            <a:endParaRPr lang="en-US" sz="20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1828800" y="6400800"/>
            <a:ext cx="896112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dirty="0">
                <a:solidFill>
                  <a:srgbClr val="8C96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dirty="0">
                <a:solidFill>
                  <a:srgbClr val="8C96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 : organisme, document, date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8C96A8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_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HALDEN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3931920"/>
            <a:ext cx="1097280" cy="0"/>
          </a:xfrm>
          <a:prstGeom prst="line">
            <a:avLst/>
          </a:prstGeom>
          <a:noFill/>
          <a:ln w="12700">
            <a:solidFill>
              <a:srgbClr val="C9A86A"/>
            </a:solidFill>
            <a:prstDash val="solid"/>
          </a:ln>
        </p:spPr>
      </p:sp>
      <p:sp>
        <p:nvSpPr>
          <p:cNvPr id="4" name="Text 2"/>
          <p:cNvSpPr/>
          <p:nvPr>
            <p:ph idx="102" type="body" hasCustomPrompt="1"/>
          </p:nvPr>
        </p:nvSpPr>
        <p:spPr>
          <a:xfrm>
            <a:off x="548640" y="1828800"/>
            <a:ext cx="6858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40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b="1" spc="40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 DE TRAVAIL · MOIS ANNÉE</a:t>
            </a:r>
            <a:endParaRPr lang="en-US" sz="900" dirty="0"/>
          </a:p>
        </p:txBody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548640" y="2194560"/>
            <a:ext cx="694944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34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Titre de la présentation</a:t>
            </a:r>
            <a:endParaRPr lang="en-US" sz="3400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548640" y="4114800"/>
            <a:ext cx="65836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0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Sous-titre</a:t>
            </a:r>
            <a:endParaRPr lang="en-US" sz="1400" dirty="0"/>
          </a:p>
        </p:txBody>
      </p:sp>
      <p:sp>
        <p:nvSpPr>
          <p:cNvPr id="7" name="Text 2"/>
          <p:cNvSpPr/>
          <p:nvPr/>
        </p:nvSpPr>
        <p:spPr>
          <a:xfrm>
            <a:off x="548640" y="6263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promise, carried through.</a:t>
            </a:r>
            <a:endParaRPr lang="en-US" sz="900" dirty="0"/>
          </a:p>
        </p:txBody>
      </p:sp>
      <p:sp>
        <p:nvSpPr>
          <p:cNvPr id="8" name="Text 3"/>
          <p:cNvSpPr/>
          <p:nvPr/>
        </p:nvSpPr>
        <p:spPr>
          <a:xfrm>
            <a:off x="8412480" y="6263640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DUBAI · 2026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_DIVID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HALDEN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3611880"/>
            <a:ext cx="1097280" cy="0"/>
          </a:xfrm>
          <a:prstGeom prst="line">
            <a:avLst/>
          </a:prstGeom>
          <a:noFill/>
          <a:ln w="12700">
            <a:solidFill>
              <a:srgbClr val="C9A86A"/>
            </a:solidFill>
            <a:prstDash val="solid"/>
          </a:ln>
        </p:spPr>
      </p:sp>
      <p:sp>
        <p:nvSpPr>
          <p:cNvPr id="4" name="Text 2"/>
          <p:cNvSpPr/>
          <p:nvPr>
            <p:ph idx="102" type="body" hasCustomPrompt="1"/>
          </p:nvPr>
        </p:nvSpPr>
        <p:spPr>
          <a:xfrm>
            <a:off x="548640" y="1737360"/>
            <a:ext cx="27432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40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4400" dirty="0"/>
          </a:p>
        </p:txBody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548640" y="269748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Titre de section</a:t>
            </a:r>
            <a:endParaRPr lang="en-US" sz="3200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548640" y="3794760"/>
            <a:ext cx="68580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0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 que la section démontre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C8CFDA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_END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HALDEN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3611880"/>
            <a:ext cx="1097280" cy="0"/>
          </a:xfrm>
          <a:prstGeom prst="line">
            <a:avLst/>
          </a:prstGeom>
          <a:noFill/>
          <a:ln w="12700">
            <a:solidFill>
              <a:srgbClr val="C9A86A"/>
            </a:solidFill>
            <a:prstDash val="solid"/>
          </a:ln>
        </p:spPr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548640" y="2194560"/>
            <a:ext cx="77724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Message de clôture</a:t>
            </a:r>
            <a:endParaRPr lang="en-US" sz="30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548640" y="3794760"/>
            <a:ext cx="73152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Contact</a:t>
            </a:r>
            <a:endParaRPr lang="en-US" sz="1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B6472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548640" y="2194560"/>
            <a:ext cx="6949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AI back office for off-plan collections</a:t>
            </a:r>
            <a:endParaRPr lang="en-US" sz="3400" dirty="0"/>
          </a:p>
        </p:txBody>
      </p:sp>
      <p:sp>
        <p:nvSpPr>
          <p:cNvPr id="3" name="Text 2"/>
          <p:cNvSpPr/>
          <p:nvPr>
            <p:ph idx="104" type="body" hasCustomPrompt="1"/>
          </p:nvPr>
        </p:nvSpPr>
        <p:spPr>
          <a:xfrm>
            <a:off x="548640" y="411480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certified milestone to reconciled payment</a:t>
            </a:r>
            <a:endParaRPr lang="en-US" sz="1400" dirty="0"/>
          </a:p>
        </p:txBody>
      </p:sp>
      <p:sp>
        <p:nvSpPr>
          <p:cNvPr id="4" name="Text 2"/>
          <p:cNvSpPr/>
          <p:nvPr>
            <p:ph idx="102" type="body" hasCustomPrompt="1"/>
          </p:nvPr>
        </p:nvSpPr>
        <p:spPr>
          <a:xfrm>
            <a:off x="548640" y="18288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PREPARED FOR [DEVELOPER NAME] · OCTOBER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955280" y="1828800"/>
            <a:ext cx="0" cy="3017520"/>
          </a:xfrm>
          <a:prstGeom prst="line">
            <a:avLst/>
          </a:prstGeom>
          <a:noFill/>
          <a:ln w="9525">
            <a:solidFill>
              <a:srgbClr val="C9A86A">
                <a:alpha val="50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138160" y="1737360"/>
            <a:ext cx="35021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r" indent="0" marL="0">
              <a:buNone/>
            </a:pPr>
            <a:r>
              <a:rPr lang="ar-AE" altLang="en-US" sz="7200" b="1" dirty="0">
                <a:solidFill>
                  <a:srgbClr val="C9A86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هالدن</a:t>
            </a:r>
            <a:endParaRPr lang="ar-AE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8138160" y="3337560"/>
            <a:ext cx="3502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800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كل وعد، حتى يتحقق</a:t>
            </a:r>
            <a:endParaRPr lang="ar-AE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548640" y="17373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4400" dirty="0"/>
          </a:p>
        </p:txBody>
      </p:sp>
      <p:sp>
        <p:nvSpPr>
          <p:cNvPr id="3" name="Text 2"/>
          <p:cNvSpPr/>
          <p:nvPr>
            <p:ph idx="104" type="body" hasCustomPrompt="1"/>
          </p:nvPr>
        </p:nvSpPr>
        <p:spPr>
          <a:xfrm>
            <a:off x="548640" y="379476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1400" dirty="0"/>
          </a:p>
        </p:txBody>
      </p:sp>
      <p:sp>
        <p:nvSpPr>
          <p:cNvPr id="4" name="Text 2"/>
          <p:cNvSpPr/>
          <p:nvPr>
            <p:ph idx="103" type="title" hasCustomPrompt="1"/>
          </p:nvPr>
        </p:nvSpPr>
        <p:spPr>
          <a:xfrm>
            <a:off x="548640" y="2697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Selling the unit is the easy part.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79476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30 months of payments that follow are the real work.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C8CFDA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400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Around two thirds of Dubai's property sales are off-plan, paid in stages over construction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DUBAI OFF-PLAN MARKET</a:t>
            </a:r>
            <a:endParaRPr lang="en-US" sz="9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1828800" y="640080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96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DXB Interact (Dubai Land Department data), 2025</a:t>
            </a:r>
            <a:endParaRPr lang="en-US" sz="900" dirty="0"/>
          </a:p>
        </p:txBody>
      </p:sp>
      <p:sp>
        <p:nvSpPr>
          <p:cNvPr id="5" name="!!hero"/>
          <p:cNvSpPr txBox="1"/>
          <p:nvPr/>
        </p:nvSpPr>
        <p:spPr>
          <a:xfrm>
            <a:off x="502920" y="1828800"/>
            <a:ext cx="1109441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0" b="1" spc="-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686.8bn</a:t>
            </a:r>
            <a:endParaRPr lang="en-US" sz="1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AED · 2025 SALES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434840"/>
            <a:ext cx="1097280" cy="0"/>
          </a:xfrm>
          <a:prstGeom prst="line">
            <a:avLst/>
          </a:prstGeom>
          <a:noFill/>
          <a:ln w="9525">
            <a:solidFill>
              <a:srgbClr val="C9A86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46177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 property sales in Dubai in 2025, around two thirds of them off-plan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8C96A8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400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expect to hear: every certified milestone leaves four cash tasks to your finance team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WORK BEHIND EVERY MILESTONE</a:t>
            </a:r>
            <a:endParaRPr lang="en-US" sz="9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1828800" y="640080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96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Halden hypothesis, to be confirmed in conversations with finance teams. It describes a developer with one to three projects</a:t>
            </a:r>
            <a:endParaRPr lang="en-US" sz="900" dirty="0"/>
          </a:p>
        </p:txBody>
      </p:sp>
      <p:sp>
        <p:nvSpPr>
          <p:cNvPr id="5" name="Sticker"/>
          <p:cNvSpPr/>
          <p:nvPr/>
        </p:nvSpPr>
        <p:spPr>
          <a:xfrm>
            <a:off x="9905695" y="347472"/>
            <a:ext cx="1737360" cy="237744"/>
          </a:xfrm>
          <a:prstGeom prst="rect">
            <a:avLst/>
          </a:prstGeom>
          <a:solidFill>
            <a:srgbClr val="0B1426">
              <a:alpha val="0"/>
            </a:srgbClr>
          </a:solidFill>
          <a:ln w="9525">
            <a:solidFill>
              <a:srgbClr val="C9A86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905695" y="34747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HYPOTHESIS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2636444" cy="4434840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C9A86A">
                <a:alpha val="30000"/>
              </a:srgbClr>
            </a:solidFill>
            <a:prstDash val="solid"/>
          </a:ln>
        </p:spPr>
      </p:sp>
      <p:pic>
        <p:nvPicPr>
          <p:cNvPr id="8" name="Image 0" descr="FileTe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65960"/>
            <a:ext cx="457200" cy="4572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22960" y="2743200"/>
            <a:ext cx="20878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Call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822960" y="3429000"/>
            <a:ext cx="457200" cy="0"/>
          </a:xfrm>
          <a:prstGeom prst="line">
            <a:avLst/>
          </a:prstGeom>
          <a:noFill/>
          <a:ln w="9525">
            <a:solidFill>
              <a:srgbClr val="C9A86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3611880"/>
            <a:ext cx="20878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Each buyer's instalment, from their own payment plan, as soon as the milestone is certified.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367964" y="1645920"/>
            <a:ext cx="2636444" cy="4434840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C9A86A">
                <a:alpha val="30000"/>
              </a:srgbClr>
            </a:solidFill>
            <a:prstDash val="solid"/>
          </a:ln>
        </p:spPr>
      </p:sp>
      <p:pic>
        <p:nvPicPr>
          <p:cNvPr id="13" name="Image 1" descr="Repe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8004" y="196596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642284" y="2743200"/>
            <a:ext cx="20878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Reconcile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3642284" y="3429000"/>
            <a:ext cx="457200" cy="0"/>
          </a:xfrm>
          <a:prstGeom prst="line">
            <a:avLst/>
          </a:prstGeom>
          <a:noFill/>
          <a:ln w="9525">
            <a:solidFill>
              <a:srgbClr val="C9A86A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3642284" y="3611880"/>
            <a:ext cx="20878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transfer matched to the right buyer, often with a missing reference or someone else's.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187288" y="1645920"/>
            <a:ext cx="2636444" cy="4434840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C9A86A">
                <a:alpha val="30000"/>
              </a:srgbClr>
            </a:solidFill>
            <a:prstDash val="solid"/>
          </a:ln>
        </p:spPr>
      </p:sp>
      <p:pic>
        <p:nvPicPr>
          <p:cNvPr id="18" name="Image 2" descr="Bel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7328" y="196596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61608" y="2743200"/>
            <a:ext cx="20878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Chase</a:t>
            </a:r>
            <a:endParaRPr lang="en-US" sz="2000" dirty="0"/>
          </a:p>
        </p:txBody>
      </p:sp>
      <p:sp>
        <p:nvSpPr>
          <p:cNvPr id="20" name="Shape 15"/>
          <p:cNvSpPr/>
          <p:nvPr/>
        </p:nvSpPr>
        <p:spPr>
          <a:xfrm>
            <a:off x="6461608" y="3429000"/>
            <a:ext cx="457200" cy="0"/>
          </a:xfrm>
          <a:prstGeom prst="line">
            <a:avLst/>
          </a:prstGeom>
          <a:noFill/>
          <a:ln w="9525">
            <a:solidFill>
              <a:srgbClr val="C9A86A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6461608" y="3611880"/>
            <a:ext cx="20878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Late buyers, in Arabic or English, without damaging the relationship.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9006611" y="1645920"/>
            <a:ext cx="2636444" cy="4434840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C9A86A">
                <a:alpha val="30000"/>
              </a:srgbClr>
            </a:solidFill>
            <a:prstDash val="solid"/>
          </a:ln>
        </p:spPr>
      </p:sp>
      <p:pic>
        <p:nvPicPr>
          <p:cNvPr id="23" name="Image 3" descr="Archiv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651" y="1965960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280931" y="2743200"/>
            <a:ext cx="20878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</a:t>
            </a:r>
            <a:endParaRPr lang="en-US" sz="2000" dirty="0"/>
          </a:p>
        </p:txBody>
      </p:sp>
      <p:sp>
        <p:nvSpPr>
          <p:cNvPr id="25" name="Shape 19"/>
          <p:cNvSpPr/>
          <p:nvPr/>
        </p:nvSpPr>
        <p:spPr>
          <a:xfrm>
            <a:off x="9280931" y="3429000"/>
            <a:ext cx="457200" cy="0"/>
          </a:xfrm>
          <a:prstGeom prst="line">
            <a:avLst/>
          </a:prstGeom>
          <a:noFill/>
          <a:ln w="9525">
            <a:solidFill>
              <a:srgbClr val="C9A86A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9280931" y="3611880"/>
            <a:ext cx="20878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clean file for the project escrow account, the auditors and any dispute.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8C96A8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400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 start with one step of the journey: the staged payments, for one tower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OFF-PLAN BUYER JOURNEY</a:t>
            </a:r>
            <a:endParaRPr lang="en-US" sz="9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1828800" y="640080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96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Halden design. Only the staged payments step is in the pilot; the other steps are a vision, not a product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3931920"/>
            <a:ext cx="11094415" cy="0"/>
          </a:xfrm>
          <a:prstGeom prst="line">
            <a:avLst/>
          </a:prstGeom>
          <a:noFill/>
          <a:ln w="12700">
            <a:solidFill>
              <a:srgbClr val="C9A86A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00023" y="3858768"/>
            <a:ext cx="146304" cy="146304"/>
          </a:xfrm>
          <a:prstGeom prst="ellipse">
            <a:avLst/>
          </a:prstGeom>
          <a:solidFill>
            <a:srgbClr val="0B1426"/>
          </a:solidFill>
          <a:ln w="15875">
            <a:solidFill>
              <a:srgbClr val="C9A86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4251960"/>
            <a:ext cx="184906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C96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709160"/>
            <a:ext cx="16661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Reserve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230368"/>
            <a:ext cx="166618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MONTH 0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5532120"/>
            <a:ext cx="157474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Later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49092" y="3858768"/>
            <a:ext cx="146304" cy="146304"/>
          </a:xfrm>
          <a:prstGeom prst="ellipse">
            <a:avLst/>
          </a:prstGeom>
          <a:solidFill>
            <a:srgbClr val="0B1426"/>
          </a:solidFill>
          <a:ln w="15875">
            <a:solidFill>
              <a:srgbClr val="C9A86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397709" y="4251960"/>
            <a:ext cx="184906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C96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2489149" y="4709160"/>
            <a:ext cx="16661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Contract and Oqood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2489149" y="5230368"/>
            <a:ext cx="166618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MONTHS 0–2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2534869" y="5532120"/>
            <a:ext cx="157474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Later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05553" y="3566160"/>
            <a:ext cx="731520" cy="731520"/>
          </a:xfrm>
          <a:prstGeom prst="ellipse">
            <a:avLst/>
          </a:prstGeom>
          <a:solidFill>
            <a:srgbClr val="C9A86A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338218" y="1828800"/>
            <a:ext cx="1666189" cy="1417320"/>
          </a:xfrm>
          <a:prstGeom prst="rect">
            <a:avLst/>
          </a:prstGeom>
          <a:solidFill>
            <a:srgbClr val="C9A86A">
              <a:alpha val="12000"/>
            </a:srgbClr>
          </a:solidFill>
          <a:ln w="9525">
            <a:solidFill>
              <a:srgbClr val="C9A86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29658" y="1938528"/>
            <a:ext cx="14833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WE START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429658" y="2240280"/>
            <a:ext cx="148330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certified milestone, every buyer's request, every transfer reconciled.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171313" y="3246120"/>
            <a:ext cx="0" cy="502920"/>
          </a:xfrm>
          <a:prstGeom prst="line">
            <a:avLst/>
          </a:prstGeom>
          <a:noFill/>
          <a:ln w="9525">
            <a:solidFill>
              <a:srgbClr val="C9A86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52441" y="3813048"/>
            <a:ext cx="237744" cy="237744"/>
          </a:xfrm>
          <a:prstGeom prst="ellipse">
            <a:avLst/>
          </a:prstGeom>
          <a:solidFill>
            <a:srgbClr val="C9A86A"/>
          </a:solidFill>
          <a:ln w="15875">
            <a:solidFill>
              <a:srgbClr val="C9A86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246778" y="4251960"/>
            <a:ext cx="184906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4338218" y="4709160"/>
            <a:ext cx="16661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Staged payments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338218" y="5230368"/>
            <a:ext cx="166618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MONTHS 1–30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4383938" y="5532120"/>
            <a:ext cx="157474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pilot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947230" y="3858768"/>
            <a:ext cx="146304" cy="146304"/>
          </a:xfrm>
          <a:prstGeom prst="ellipse">
            <a:avLst/>
          </a:prstGeom>
          <a:solidFill>
            <a:srgbClr val="0B1426"/>
          </a:solidFill>
          <a:ln w="15875">
            <a:solidFill>
              <a:srgbClr val="C9A86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095848" y="4251960"/>
            <a:ext cx="184906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C96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6187288" y="4709160"/>
            <a:ext cx="16661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Construction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187288" y="5230368"/>
            <a:ext cx="166618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MONTHS 1–30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6233008" y="5532120"/>
            <a:ext cx="157474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Later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796299" y="3858768"/>
            <a:ext cx="146304" cy="146304"/>
          </a:xfrm>
          <a:prstGeom prst="ellipse">
            <a:avLst/>
          </a:prstGeom>
          <a:solidFill>
            <a:srgbClr val="0B1426"/>
          </a:solidFill>
          <a:ln w="15875">
            <a:solidFill>
              <a:srgbClr val="C9A86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944917" y="4251960"/>
            <a:ext cx="184906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C96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8036357" y="4709160"/>
            <a:ext cx="16661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Handover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8036357" y="5230368"/>
            <a:ext cx="166618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AROUND MONTH 30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8082077" y="5532120"/>
            <a:ext cx="157474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Later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0645369" y="3858768"/>
            <a:ext cx="146304" cy="146304"/>
          </a:xfrm>
          <a:prstGeom prst="ellipse">
            <a:avLst/>
          </a:prstGeom>
          <a:solidFill>
            <a:srgbClr val="0B1426"/>
          </a:solidFill>
          <a:ln w="15875">
            <a:solidFill>
              <a:srgbClr val="C9A86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793986" y="4251960"/>
            <a:ext cx="184906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C96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2000" dirty="0"/>
          </a:p>
        </p:txBody>
      </p:sp>
      <p:sp>
        <p:nvSpPr>
          <p:cNvPr id="38" name="Text 36"/>
          <p:cNvSpPr txBox="1"/>
          <p:nvPr/>
        </p:nvSpPr>
        <p:spPr>
          <a:xfrm>
            <a:off x="9885426" y="4709160"/>
            <a:ext cx="16661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Warranty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9885426" y="5230368"/>
            <a:ext cx="166618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YEARS 1–10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9931146" y="5532120"/>
            <a:ext cx="157474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Later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8C96A8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400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With Halden, collections move from scattered tools to one approval queue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BACK OFFICE AFTER THE SALE</a:t>
            </a:r>
            <a:endParaRPr lang="en-US" sz="9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1828800" y="640080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Halden design; left column is our hypothesis. Product in development</a:t>
            </a:r>
            <a:endParaRPr lang="en-US" sz="900" dirty="0"/>
          </a:p>
        </p:txBody>
      </p:sp>
      <p:sp>
        <p:nvSpPr>
          <p:cNvPr id="5" name="Sticker"/>
          <p:cNvSpPr/>
          <p:nvPr/>
        </p:nvSpPr>
        <p:spPr>
          <a:xfrm>
            <a:off x="9832543" y="347472"/>
            <a:ext cx="1810512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C9A86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832543" y="347472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 TARGET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5410048" cy="452628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8" name="Shape 6"/>
          <p:cNvSpPr/>
          <p:nvPr/>
        </p:nvSpPr>
        <p:spPr>
          <a:xfrm>
            <a:off x="6233008" y="1600200"/>
            <a:ext cx="5410048" cy="4526280"/>
          </a:xfrm>
          <a:prstGeom prst="rect">
            <a:avLst/>
          </a:prstGeom>
          <a:solidFill>
            <a:srgbClr val="0B142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1920240"/>
            <a:ext cx="467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EXPECT TODAY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598768" y="1920240"/>
            <a:ext cx="467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WITH HALDEN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14400" y="2359152"/>
            <a:ext cx="4678528" cy="0"/>
          </a:xfrm>
          <a:prstGeom prst="line">
            <a:avLst/>
          </a:prstGeom>
          <a:noFill/>
          <a:ln w="9525">
            <a:solidFill>
              <a:srgbClr val="D5D8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98768" y="2359152"/>
            <a:ext cx="4678528" cy="0"/>
          </a:xfrm>
          <a:prstGeom prst="line">
            <a:avLst/>
          </a:prstGeom>
          <a:noFill/>
          <a:ln w="9525">
            <a:solidFill>
              <a:srgbClr val="C9A86A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246888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2468880"/>
            <a:ext cx="4267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Payment requests rebuilt for each milestone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598768" y="246888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010248" y="2468880"/>
            <a:ext cx="4267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Requests ready when the milestone is certified, approved by your team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" y="3255264"/>
            <a:ext cx="4678528" cy="0"/>
          </a:xfrm>
          <a:prstGeom prst="line">
            <a:avLst/>
          </a:prstGeom>
          <a:noFill/>
          <a:ln w="9525">
            <a:solidFill>
              <a:srgbClr val="D5D8D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98768" y="3255264"/>
            <a:ext cx="4678528" cy="0"/>
          </a:xfrm>
          <a:prstGeom prst="line">
            <a:avLst/>
          </a:prstGeom>
          <a:noFill/>
          <a:ln w="9525">
            <a:solidFill>
              <a:srgbClr val="C9A86A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3364992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3364992"/>
            <a:ext cx="4267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Transfers matched line by line, references missing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98768" y="3364992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010248" y="3364992"/>
            <a:ext cx="4267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Exact matches done; uncertain ones at the top of the queue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14400" y="4151376"/>
            <a:ext cx="4678528" cy="0"/>
          </a:xfrm>
          <a:prstGeom prst="line">
            <a:avLst/>
          </a:prstGeom>
          <a:noFill/>
          <a:ln w="9525">
            <a:solidFill>
              <a:srgbClr val="D5D8D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98768" y="4151376"/>
            <a:ext cx="4678528" cy="0"/>
          </a:xfrm>
          <a:prstGeom prst="line">
            <a:avLst/>
          </a:prstGeom>
          <a:noFill/>
          <a:ln w="9525">
            <a:solidFill>
              <a:srgbClr val="C9A86A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4400" y="4261104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4261104"/>
            <a:ext cx="4267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Reminders one language at a time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598768" y="4261104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010248" y="4261104"/>
            <a:ext cx="4267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Drafts in each buyer's language, approved before sending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14400" y="5047488"/>
            <a:ext cx="4678528" cy="0"/>
          </a:xfrm>
          <a:prstGeom prst="line">
            <a:avLst/>
          </a:prstGeom>
          <a:noFill/>
          <a:ln w="9525">
            <a:solidFill>
              <a:srgbClr val="D5D8D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98768" y="5047488"/>
            <a:ext cx="4678528" cy="0"/>
          </a:xfrm>
          <a:prstGeom prst="line">
            <a:avLst/>
          </a:prstGeom>
          <a:noFill/>
          <a:ln w="9525">
            <a:solidFill>
              <a:srgbClr val="C9A86A">
                <a:alpha val="4000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14400" y="5157216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325880" y="5157216"/>
            <a:ext cx="4267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Files scattered when the auditor calls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598768" y="5157216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7010248" y="5157216"/>
            <a:ext cx="4267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action logged, escrow file ready for audit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812384" y="3579876"/>
            <a:ext cx="566928" cy="566928"/>
          </a:xfrm>
          <a:prstGeom prst="ellipse">
            <a:avLst/>
          </a:prstGeom>
          <a:solidFill>
            <a:srgbClr val="8A6A3A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36" name="Image 0" descr="Flèch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0400" y="3707892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B6472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400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Halden prepares. Your team approves every buyer message and decides every exception.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HALDEN WORKS DURING THE PILOT</a:t>
            </a:r>
            <a:endParaRPr lang="en-US" sz="9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1828800" y="640080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96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rule enforced in the Halden prototype code and checked by its tests. Oqood registration: Dubai Land Department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35152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Approve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548640" cy="0"/>
          </a:xfrm>
          <a:prstGeom prst="line">
            <a:avLst/>
          </a:prstGeom>
          <a:noFill/>
          <a:ln w="9525">
            <a:solidFill>
              <a:srgbClr val="C9A86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3154680"/>
            <a:ext cx="33323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message to a buyer and every uncertain match waits for a named person on your team.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338218" y="1645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338218" y="2103120"/>
            <a:ext cx="35152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Sign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4338218" y="2971800"/>
            <a:ext cx="548640" cy="0"/>
          </a:xfrm>
          <a:prstGeom prst="line">
            <a:avLst/>
          </a:prstGeom>
          <a:noFill/>
          <a:ln w="9525">
            <a:solidFill>
              <a:srgbClr val="C9A86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38218" y="3154680"/>
            <a:ext cx="33323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Contracts, Oqood registration at the DLD and legal notices stay with your team. Never the AI.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27797" y="1645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127797" y="2103120"/>
            <a:ext cx="35152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Decide</a:t>
            </a:r>
            <a:endParaRPr lang="en-US" sz="3400" dirty="0"/>
          </a:p>
        </p:txBody>
      </p:sp>
      <p:sp>
        <p:nvSpPr>
          <p:cNvPr id="15" name="Shape 13"/>
          <p:cNvSpPr/>
          <p:nvPr/>
        </p:nvSpPr>
        <p:spPr>
          <a:xfrm>
            <a:off x="8127797" y="2971800"/>
            <a:ext cx="548640" cy="0"/>
          </a:xfrm>
          <a:prstGeom prst="line">
            <a:avLst/>
          </a:prstGeom>
          <a:noFill/>
          <a:ln w="9525">
            <a:solidFill>
              <a:srgbClr val="C9A86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27797" y="3154680"/>
            <a:ext cx="33323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buyer in difficulty, a disputed amount, a payment default: always a person, with the file prepared.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434840"/>
            <a:ext cx="11094415" cy="0"/>
          </a:xfrm>
          <a:prstGeom prst="line">
            <a:avLst/>
          </a:prstGeom>
          <a:noFill/>
          <a:ln w="6350">
            <a:solidFill>
              <a:srgbClr val="C9A86A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45720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STOPS ANY AUTOMATIC CONTACT WITH A BUYER</a:t>
            </a:r>
            <a:endParaRPr lang="en-US" sz="900" dirty="0"/>
          </a:p>
        </p:txBody>
      </p:sp>
      <p:pic>
        <p:nvPicPr>
          <p:cNvPr id="19" name="Image 0" descr="CheckCirc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074920"/>
            <a:ext cx="365760" cy="365760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188720" y="4983480"/>
            <a:ext cx="28751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"I already paid"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188720" y="5303520"/>
            <a:ext cx="27837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English, Arabic or French.</a:t>
            </a:r>
            <a:endParaRPr lang="en-US" sz="1000" dirty="0"/>
          </a:p>
        </p:txBody>
      </p:sp>
      <p:pic>
        <p:nvPicPr>
          <p:cNvPr id="22" name="Image 1" descr="Briefca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938" y="5074920"/>
            <a:ext cx="365760" cy="36576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4978298" y="4983480"/>
            <a:ext cx="28751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Lawyer, complaint, hardship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4978298" y="5303520"/>
            <a:ext cx="27837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person is alerted at once.</a:t>
            </a:r>
            <a:endParaRPr lang="en-US" sz="1000" dirty="0"/>
          </a:p>
        </p:txBody>
      </p:sp>
      <p:pic>
        <p:nvPicPr>
          <p:cNvPr id="25" name="Image 2" descr="Clo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3517" y="5074920"/>
            <a:ext cx="365760" cy="36576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8767877" y="4983480"/>
            <a:ext cx="28751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payment pending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8767877" y="5303520"/>
            <a:ext cx="27837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 an unidentified transfer of the same amount.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8C96A8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400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our demo, 14 of 19 transfers are matched with no human; the other 5 go to your CFO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BANK RECONCILIATION FOR ONE MILESTONE</a:t>
            </a:r>
            <a:endParaRPr lang="en-US" sz="9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1828800" y="640080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Halden prototype v0.2 demo (fictitious tower of 32 buyers, invented data). Internal test bench: 0 wrong automatic matches on 200 lines written by our team</a:t>
            </a:r>
            <a:endParaRPr lang="en-US" sz="900" dirty="0"/>
          </a:p>
        </p:txBody>
      </p:sp>
      <p:sp>
        <p:nvSpPr>
          <p:cNvPr id="5" name="Sticker"/>
          <p:cNvSpPr/>
          <p:nvPr/>
        </p:nvSpPr>
        <p:spPr>
          <a:xfrm>
            <a:off x="9814255" y="347472"/>
            <a:ext cx="182880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C9A86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814255" y="3474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 · FICTITIOUS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173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TRANSFERS RECEIVED FOR ONE MILESTONE, NUMBER (DEMO, INVENTED DATA)</a:t>
            </a:r>
            <a:endParaRPr lang="en-US" sz="900" dirty="0"/>
          </a:p>
        </p:txBody>
      </p:sp>
      <p:sp>
        <p:nvSpPr>
          <p:cNvPr id="8" name="Filet"/>
          <p:cNvSpPr/>
          <p:nvPr/>
        </p:nvSpPr>
        <p:spPr>
          <a:xfrm>
            <a:off x="548640" y="1764792"/>
            <a:ext cx="7680960" cy="0"/>
          </a:xfrm>
          <a:prstGeom prst="line">
            <a:avLst/>
          </a:prstGeom>
          <a:noFill/>
          <a:ln w="6350">
            <a:solidFill>
              <a:srgbClr val="0B14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3486" y="2331720"/>
            <a:ext cx="1190549" cy="3108960"/>
          </a:xfrm>
          <a:prstGeom prst="rect">
            <a:avLst/>
          </a:prstGeom>
          <a:solidFill>
            <a:srgbClr val="0B142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0606" y="1947672"/>
            <a:ext cx="15563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19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84886" y="5550408"/>
            <a:ext cx="164774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Transfers received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104034" y="2331720"/>
            <a:ext cx="729691" cy="0"/>
          </a:xfrm>
          <a:prstGeom prst="line">
            <a:avLst/>
          </a:prstGeom>
          <a:noFill/>
          <a:ln w="9525">
            <a:solidFill>
              <a:srgbClr val="5B6472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2833726" y="2331720"/>
            <a:ext cx="1190549" cy="2290813"/>
          </a:xfrm>
          <a:prstGeom prst="rect">
            <a:avLst/>
          </a:prstGeom>
          <a:solidFill>
            <a:srgbClr val="CBD1D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650846" y="1947672"/>
            <a:ext cx="15563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−14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2605126" y="5550408"/>
            <a:ext cx="164774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Matched, no human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024274" y="4622533"/>
            <a:ext cx="729691" cy="0"/>
          </a:xfrm>
          <a:prstGeom prst="line">
            <a:avLst/>
          </a:prstGeom>
          <a:noFill/>
          <a:ln w="9525">
            <a:solidFill>
              <a:srgbClr val="5B6472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4753966" y="4622533"/>
            <a:ext cx="1190549" cy="654518"/>
          </a:xfrm>
          <a:prstGeom prst="rect">
            <a:avLst/>
          </a:prstGeom>
          <a:solidFill>
            <a:srgbClr val="CBD1D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71086" y="4238485"/>
            <a:ext cx="15563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−4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525366" y="5550408"/>
            <a:ext cx="164774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Approved by the CFO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944514" y="5277051"/>
            <a:ext cx="729691" cy="0"/>
          </a:xfrm>
          <a:prstGeom prst="line">
            <a:avLst/>
          </a:prstGeom>
          <a:noFill/>
          <a:ln w="9525">
            <a:solidFill>
              <a:srgbClr val="5B6472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6674206" y="5277051"/>
            <a:ext cx="1190549" cy="163629"/>
          </a:xfrm>
          <a:prstGeom prst="rect">
            <a:avLst/>
          </a:prstGeom>
          <a:solidFill>
            <a:srgbClr val="8A6A3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91326" y="4893003"/>
            <a:ext cx="15563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445606" y="5550408"/>
            <a:ext cx="164774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Rightly refused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5440680"/>
            <a:ext cx="7680960" cy="0"/>
          </a:xfrm>
          <a:prstGeom prst="line">
            <a:avLst/>
          </a:prstGeom>
          <a:noFill/>
          <a:ln w="9525">
            <a:solidFill>
              <a:srgbClr val="D5D8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0" y="1600200"/>
            <a:ext cx="2956255" cy="4526280"/>
          </a:xfrm>
          <a:prstGeom prst="rect">
            <a:avLst/>
          </a:prstGeom>
          <a:solidFill>
            <a:srgbClr val="0B142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961120" y="1874520"/>
            <a:ext cx="24076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</a:t>
            </a:r>
            <a:endParaRPr lang="en-US" sz="5400" dirty="0"/>
          </a:p>
        </p:txBody>
      </p:sp>
      <p:sp>
        <p:nvSpPr>
          <p:cNvPr id="27" name="Shape 25"/>
          <p:cNvSpPr/>
          <p:nvPr/>
        </p:nvSpPr>
        <p:spPr>
          <a:xfrm>
            <a:off x="8961120" y="3063240"/>
            <a:ext cx="731520" cy="0"/>
          </a:xfrm>
          <a:prstGeom prst="line">
            <a:avLst/>
          </a:prstGeom>
          <a:noFill/>
          <a:ln w="9525">
            <a:solidFill>
              <a:srgbClr val="C9A86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961120" y="3246120"/>
            <a:ext cx="2407615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messages sent to a buyer without approval. The refused transfer carried another buyer's reference: it is never matched automatically.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B6472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400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Escrow releases cash at the pace of construction; Halden gives your CFO fewer delays, less team time and an audit-ready file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YOUR CFO GAINS</a:t>
            </a:r>
            <a:endParaRPr lang="en-US" sz="9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1828800" y="640080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Escrow: Dubai Law No. 8 of 2007. Gains are product targets, to be measured against your own baseline during the pilot</a:t>
            </a:r>
            <a:endParaRPr lang="en-US" sz="900" dirty="0"/>
          </a:p>
        </p:txBody>
      </p:sp>
      <p:sp>
        <p:nvSpPr>
          <p:cNvPr id="5" name="Sticker"/>
          <p:cNvSpPr/>
          <p:nvPr/>
        </p:nvSpPr>
        <p:spPr>
          <a:xfrm>
            <a:off x="9905695" y="347472"/>
            <a:ext cx="1737360" cy="237744"/>
          </a:xfrm>
          <a:prstGeom prst="rect">
            <a:avLst/>
          </a:prstGeom>
          <a:solidFill>
            <a:schemeClr val="bg1"/>
          </a:solidFill>
          <a:ln w="9525">
            <a:solidFill>
              <a:srgbClr val="C9A86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905695" y="34747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 TARGET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11094415" cy="77724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164592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Halden does not do: </a:t>
            </a:r>
            <a:pPr indent="0" marL="0">
              <a:buNone/>
            </a:pPr>
            <a:r>
              <a:rPr lang="en-US" sz="115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make escrow cash available sooner. Buyer payments stay in the project escrow account and are released as construction is certified.</a:t>
            </a:r>
            <a:endParaRPr lang="en-US" sz="1150" dirty="0"/>
          </a:p>
        </p:txBody>
      </p:sp>
      <p:sp>
        <p:nvSpPr>
          <p:cNvPr id="9" name="Icône"/>
          <p:cNvSpPr/>
          <p:nvPr/>
        </p:nvSpPr>
        <p:spPr>
          <a:xfrm>
            <a:off x="548640" y="2743200"/>
            <a:ext cx="640080" cy="640080"/>
          </a:xfrm>
          <a:prstGeom prst="rect">
            <a:avLst/>
          </a:prstGeom>
          <a:solidFill>
            <a:schemeClr val="bg2"/>
          </a:solidFill>
          <a:ln/>
        </p:spPr>
      </p:sp>
      <p:pic>
        <p:nvPicPr>
          <p:cNvPr id="10" name="Image 0" descr="TrendingDow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458" y="2884018"/>
            <a:ext cx="358445" cy="35844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48640" y="3566160"/>
            <a:ext cx="3515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Fewer delays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48640" y="4114800"/>
            <a:ext cx="548640" cy="0"/>
          </a:xfrm>
          <a:prstGeom prst="line">
            <a:avLst/>
          </a:prstGeom>
          <a:noFill/>
          <a:ln w="9525">
            <a:solidFill>
              <a:srgbClr val="C9A86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4297680"/>
            <a:ext cx="33323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late instalment followed up the same week, in the buyer's language, and stopped the moment the buyer replies.</a:t>
            </a:r>
            <a:endParaRPr lang="en-US" sz="1200" dirty="0"/>
          </a:p>
        </p:txBody>
      </p:sp>
      <p:sp>
        <p:nvSpPr>
          <p:cNvPr id="14" name="Icône"/>
          <p:cNvSpPr/>
          <p:nvPr/>
        </p:nvSpPr>
        <p:spPr>
          <a:xfrm>
            <a:off x="4338218" y="2743200"/>
            <a:ext cx="640080" cy="640080"/>
          </a:xfrm>
          <a:prstGeom prst="rect">
            <a:avLst/>
          </a:prstGeom>
          <a:solidFill>
            <a:schemeClr val="bg2"/>
          </a:solidFill>
          <a:ln/>
        </p:spPr>
      </p:sp>
      <p:pic>
        <p:nvPicPr>
          <p:cNvPr id="15" name="Image 1" descr="Clo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9036" y="2884018"/>
            <a:ext cx="358445" cy="35844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338218" y="3566160"/>
            <a:ext cx="3515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Less team time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4338218" y="4114800"/>
            <a:ext cx="548640" cy="0"/>
          </a:xfrm>
          <a:prstGeom prst="line">
            <a:avLst/>
          </a:prstGeom>
          <a:noFill/>
          <a:ln w="9525">
            <a:solidFill>
              <a:srgbClr val="C9A86A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338218" y="4297680"/>
            <a:ext cx="33323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team reviews a queue of exceptions instead of rebuilding requests and matching transfers line by line.</a:t>
            </a:r>
            <a:endParaRPr lang="en-US" sz="1200" dirty="0"/>
          </a:p>
        </p:txBody>
      </p:sp>
      <p:sp>
        <p:nvSpPr>
          <p:cNvPr id="19" name="Icône"/>
          <p:cNvSpPr/>
          <p:nvPr/>
        </p:nvSpPr>
        <p:spPr>
          <a:xfrm>
            <a:off x="8127797" y="2743200"/>
            <a:ext cx="640080" cy="640080"/>
          </a:xfrm>
          <a:prstGeom prst="rect">
            <a:avLst/>
          </a:prstGeom>
          <a:solidFill>
            <a:schemeClr val="bg2"/>
          </a:solidFill>
          <a:ln/>
        </p:spPr>
      </p:sp>
      <p:pic>
        <p:nvPicPr>
          <p:cNvPr id="20" name="Image 2" descr="Fold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8614" y="2884018"/>
            <a:ext cx="358445" cy="358445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127797" y="3566160"/>
            <a:ext cx="3515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 audit-ready file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8127797" y="4114800"/>
            <a:ext cx="548640" cy="0"/>
          </a:xfrm>
          <a:prstGeom prst="line">
            <a:avLst/>
          </a:prstGeom>
          <a:noFill/>
          <a:ln w="9525">
            <a:solidFill>
              <a:srgbClr val="C9A86A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8127797" y="4297680"/>
            <a:ext cx="33323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Each request, payment, reminder and approval logged in a signed trail, ready for every escrow release request.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B6472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400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ERP stores the plan and sends the reminder; Halden does the work your team still does around it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NOT MY ERP?</a:t>
            </a:r>
            <a:endParaRPr lang="en-US" sz="9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1828800" y="640080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Sources: product pages of Akarati, RealSoft (Coral) and In4Suite, read on 24 October 2026. Halden answers are ours, to be tested with you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3025750"/>
                <a:gridCol w="3484197"/>
                <a:gridCol w="4584469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The work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36576" marB="36576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 typical UAE real estate ERP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36576" marB="36576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Halden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36576" marB="36576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6A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Payment plans and invoices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36576" marB="36576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Yes: plans, invoices, scheduled reminders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36576" marB="36576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Reads them from your ERP export; does not replace it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36576" marB="36576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 transfer with no reference, or someone else's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36576" marB="36576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Left to your team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36576" marB="36576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Proposes the match with its reason; never automatic when the payer does not match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36576" marB="36576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 buyer replies "I already paid" or mentions a lawyer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36576" marB="36576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Scheduled reminders may keep going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36576" marB="36576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Every automatic contact stops; a person is alerted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36576" marB="36576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Messages in Arabic and English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36576" marB="36576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Templates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36576" marB="36576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Drafts with the buyer's own figures, every amount checked against the plan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36576" marB="36576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Escrow and audit file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36576" marB="36576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Postings and reports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36576" marB="36576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 signed log of every request, match, message and approval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36576" marB="36576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257800"/>
            <a:ext cx="11094415" cy="822960"/>
          </a:xfrm>
          <a:prstGeom prst="rect">
            <a:avLst/>
          </a:prstGeom>
          <a:solidFill>
            <a:srgbClr val="0B142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525780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ERP yet?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Halden works from your spreadsheets and bank statements, without an ERP project.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B6472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400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 are preparing a Dubai rule pack, to be validated by a UAE lawyer before any live use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DUBAI RULE PACK</a:t>
            </a:r>
            <a:endParaRPr lang="en-US" sz="9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1828800" y="640080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Sources: Dubai Law No. 8 of 2007; Law No. 13 of 2008, art. 11, amended by Law No. 19 of 2017; Al Tamimi &amp; Co. Summaries, not legal advice</a:t>
            </a:r>
            <a:endParaRPr lang="en-US" sz="900" dirty="0"/>
          </a:p>
        </p:txBody>
      </p:sp>
      <p:sp>
        <p:nvSpPr>
          <p:cNvPr id="5" name="Sticker"/>
          <p:cNvSpPr/>
          <p:nvPr/>
        </p:nvSpPr>
        <p:spPr>
          <a:xfrm>
            <a:off x="9997135" y="347472"/>
            <a:ext cx="1645920" cy="237744"/>
          </a:xfrm>
          <a:prstGeom prst="rect">
            <a:avLst/>
          </a:prstGeom>
          <a:solidFill>
            <a:schemeClr val="bg1"/>
          </a:solidFill>
          <a:ln w="9525">
            <a:solidFill>
              <a:srgbClr val="C9A86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997135" y="34747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PREPARATION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3515258" cy="3291840"/>
          </a:xfrm>
          <a:prstGeom prst="rect">
            <a:avLst/>
          </a:prstGeom>
          <a:solidFill>
            <a:srgbClr val="0B142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1828800"/>
            <a:ext cx="28751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Escrow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868680" y="2926080"/>
            <a:ext cx="548640" cy="0"/>
          </a:xfrm>
          <a:prstGeom prst="line">
            <a:avLst/>
          </a:prstGeom>
          <a:noFill/>
          <a:ln w="9525">
            <a:solidFill>
              <a:srgbClr val="C9A86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3108960"/>
            <a:ext cx="28751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ESCROW ACCOUNT PER PROJECT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474720"/>
            <a:ext cx="28751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Buyer payments go to the project escrow account; Halden prepares and reconciles, it never holds or moves funds.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38218" y="1600200"/>
            <a:ext cx="3515258" cy="329184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58258" y="1828800"/>
            <a:ext cx="28751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Oqood</a:t>
            </a:r>
            <a:endParaRPr lang="en-US" sz="3800" dirty="0"/>
          </a:p>
        </p:txBody>
      </p:sp>
      <p:sp>
        <p:nvSpPr>
          <p:cNvPr id="14" name="Shape 12"/>
          <p:cNvSpPr/>
          <p:nvPr/>
        </p:nvSpPr>
        <p:spPr>
          <a:xfrm>
            <a:off x="4658258" y="2926080"/>
            <a:ext cx="548640" cy="0"/>
          </a:xfrm>
          <a:prstGeom prst="line">
            <a:avLst/>
          </a:prstGeom>
          <a:noFill/>
          <a:ln w="9525">
            <a:solidFill>
              <a:srgbClr val="8A6A3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58258" y="3108960"/>
            <a:ext cx="28751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OFF-PLAN SALE REGISTERED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4658258" y="3474720"/>
            <a:ext cx="28751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Payment plans stay consistent with the sale registered at the DLD; registration stays with your team.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27797" y="1600200"/>
            <a:ext cx="3515258" cy="329184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447837" y="1828800"/>
            <a:ext cx="28751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Default</a:t>
            </a:r>
            <a:endParaRPr lang="en-US" sz="3800" dirty="0"/>
          </a:p>
        </p:txBody>
      </p:sp>
      <p:sp>
        <p:nvSpPr>
          <p:cNvPr id="19" name="Shape 17"/>
          <p:cNvSpPr/>
          <p:nvPr/>
        </p:nvSpPr>
        <p:spPr>
          <a:xfrm>
            <a:off x="8447837" y="2926080"/>
            <a:ext cx="548640" cy="0"/>
          </a:xfrm>
          <a:prstGeom prst="line">
            <a:avLst/>
          </a:prstGeom>
          <a:noFill/>
          <a:ln w="9525">
            <a:solidFill>
              <a:srgbClr val="8A6A3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447837" y="3108960"/>
            <a:ext cx="28751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DLD PROCEDURE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8447837" y="3474720"/>
            <a:ext cx="28751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 30 days late, Halden prepares the DLD default notice file and the options by completion level. Your team decides.</a:t>
            </a:r>
            <a:endParaRPr lang="en-US" sz="1100" dirty="0"/>
          </a:p>
        </p:txBody>
      </p:sp>
      <p:sp>
        <p:nvSpPr>
          <p:cNvPr id="22" name="Cadre"/>
          <p:cNvSpPr/>
          <p:nvPr/>
        </p:nvSpPr>
        <p:spPr>
          <a:xfrm>
            <a:off x="548640" y="5166360"/>
            <a:ext cx="11094415" cy="868680"/>
          </a:xfrm>
          <a:prstGeom prst="rect">
            <a:avLst/>
          </a:prstGeom>
          <a:solidFill>
            <a:schemeClr val="bg1"/>
          </a:solidFill>
          <a:ln w="9525">
            <a:solidFill>
              <a:srgbClr val="D5D8D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5166360"/>
            <a:ext cx="10637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rule is a line in a table your lawyer can read and correct. </a:t>
            </a:r>
            <a:pPr indent="0" marL="0">
              <a:buNone/>
            </a:pPr>
            <a:r>
              <a:rPr lang="en-US" sz="115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Nothing in the pack is used on a real buyer until a UAE lawyer has signed it off.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B6472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400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buyers' data stays in the UAE, seen only by the people you name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DATA</a:t>
            </a:r>
            <a:endParaRPr lang="en-US" sz="9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1828800" y="640080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PDPL: UAE Federal Decree-Law No. 45 of 2021. AWS Middle East (UAE) Region, me-central-1. Live set-up agreed in writing before any live use</a:t>
            </a:r>
            <a:endParaRPr lang="en-US" sz="900" dirty="0"/>
          </a:p>
        </p:txBody>
      </p:sp>
      <p:sp>
        <p:nvSpPr>
          <p:cNvPr id="5" name="Icône"/>
          <p:cNvSpPr/>
          <p:nvPr/>
        </p:nvSpPr>
        <p:spPr>
          <a:xfrm>
            <a:off x="548640" y="1691640"/>
            <a:ext cx="548640" cy="548640"/>
          </a:xfrm>
          <a:prstGeom prst="rect">
            <a:avLst/>
          </a:prstGeom>
          <a:solidFill>
            <a:schemeClr val="bg2"/>
          </a:solidFill>
          <a:ln/>
        </p:spPr>
      </p:sp>
      <p:pic>
        <p:nvPicPr>
          <p:cNvPr id="6" name="Image 0" descr="MapP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812341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691640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it lives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2331720"/>
            <a:ext cx="26922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Hosting in the AWS UAE Region. During the shadow pilot: only the anonymised files you send us.</a:t>
            </a:r>
            <a:endParaRPr lang="en-US" sz="1100" dirty="0"/>
          </a:p>
        </p:txBody>
      </p:sp>
      <p:sp>
        <p:nvSpPr>
          <p:cNvPr id="9" name="Icône"/>
          <p:cNvSpPr/>
          <p:nvPr/>
        </p:nvSpPr>
        <p:spPr>
          <a:xfrm>
            <a:off x="4338218" y="1691640"/>
            <a:ext cx="548640" cy="548640"/>
          </a:xfrm>
          <a:prstGeom prst="rect">
            <a:avLst/>
          </a:prstGeom>
          <a:solidFill>
            <a:schemeClr val="bg2"/>
          </a:solidFill>
          <a:ln/>
        </p:spPr>
      </p:sp>
      <p:pic>
        <p:nvPicPr>
          <p:cNvPr id="10" name="Image 1" descr="EyeOf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8919" y="181234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069738" y="1691640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the AI sees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5069738" y="2331720"/>
            <a:ext cx="26922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Names, phone numbers and IBANs are replaced by markers before any AI call, then put back on our side.</a:t>
            </a:r>
            <a:endParaRPr lang="en-US" sz="1100" dirty="0"/>
          </a:p>
        </p:txBody>
      </p:sp>
      <p:sp>
        <p:nvSpPr>
          <p:cNvPr id="13" name="Icône"/>
          <p:cNvSpPr/>
          <p:nvPr/>
        </p:nvSpPr>
        <p:spPr>
          <a:xfrm>
            <a:off x="8127797" y="1691640"/>
            <a:ext cx="548640" cy="548640"/>
          </a:xfrm>
          <a:prstGeom prst="rect">
            <a:avLst/>
          </a:prstGeom>
          <a:solidFill>
            <a:schemeClr val="bg2"/>
          </a:solidFill>
          <a:ln/>
        </p:spPr>
      </p:sp>
      <p:pic>
        <p:nvPicPr>
          <p:cNvPr id="14" name="Image 2" descr="Use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8498" y="1812341"/>
            <a:ext cx="307238" cy="30723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859317" y="1691640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Who sees it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8859317" y="2331720"/>
            <a:ext cx="26922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team and the Halden staff you approve. Only the approvers you name can release a message.</a:t>
            </a:r>
            <a:endParaRPr lang="en-US" sz="1100" dirty="0"/>
          </a:p>
        </p:txBody>
      </p:sp>
      <p:sp>
        <p:nvSpPr>
          <p:cNvPr id="17" name="Icône"/>
          <p:cNvSpPr/>
          <p:nvPr/>
        </p:nvSpPr>
        <p:spPr>
          <a:xfrm>
            <a:off x="548640" y="3886200"/>
            <a:ext cx="548640" cy="548640"/>
          </a:xfrm>
          <a:prstGeom prst="rect">
            <a:avLst/>
          </a:prstGeom>
          <a:solidFill>
            <a:schemeClr val="bg2"/>
          </a:solidFill>
          <a:ln/>
        </p:spPr>
      </p:sp>
      <p:pic>
        <p:nvPicPr>
          <p:cNvPr id="18" name="Image 3" descr="Shiel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1" y="4006901"/>
            <a:ext cx="307238" cy="30723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280160" y="3886200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law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1280160" y="4526280"/>
            <a:ext cx="26922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Processing under the UAE PDPL, with a data processing agreement signed before the pilot.</a:t>
            </a:r>
            <a:endParaRPr lang="en-US" sz="1100" dirty="0"/>
          </a:p>
        </p:txBody>
      </p:sp>
      <p:sp>
        <p:nvSpPr>
          <p:cNvPr id="21" name="Icône"/>
          <p:cNvSpPr/>
          <p:nvPr/>
        </p:nvSpPr>
        <p:spPr>
          <a:xfrm>
            <a:off x="4338218" y="3886200"/>
            <a:ext cx="548640" cy="548640"/>
          </a:xfrm>
          <a:prstGeom prst="rect">
            <a:avLst/>
          </a:prstGeom>
          <a:solidFill>
            <a:schemeClr val="bg2"/>
          </a:solidFill>
          <a:ln/>
        </p:spPr>
      </p:sp>
      <p:pic>
        <p:nvPicPr>
          <p:cNvPr id="22" name="Image 4" descr="Lis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8919" y="4006901"/>
            <a:ext cx="307238" cy="30723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069738" y="3886200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trail</a:t>
            </a:r>
            <a:endParaRPr lang="en-US" sz="1400" dirty="0"/>
          </a:p>
        </p:txBody>
      </p:sp>
      <p:sp>
        <p:nvSpPr>
          <p:cNvPr id="24" name="Text 17"/>
          <p:cNvSpPr txBox="1"/>
          <p:nvPr/>
        </p:nvSpPr>
        <p:spPr>
          <a:xfrm>
            <a:off x="5069738" y="4526280"/>
            <a:ext cx="26922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action in a signed log: who prepared, who approved, when.</a:t>
            </a:r>
            <a:endParaRPr lang="en-US" sz="1100" dirty="0"/>
          </a:p>
        </p:txBody>
      </p:sp>
      <p:sp>
        <p:nvSpPr>
          <p:cNvPr id="25" name="Icône"/>
          <p:cNvSpPr/>
          <p:nvPr/>
        </p:nvSpPr>
        <p:spPr>
          <a:xfrm>
            <a:off x="8127797" y="3886200"/>
            <a:ext cx="548640" cy="548640"/>
          </a:xfrm>
          <a:prstGeom prst="rect">
            <a:avLst/>
          </a:prstGeom>
          <a:solidFill>
            <a:schemeClr val="bg2"/>
          </a:solidFill>
          <a:ln/>
        </p:spPr>
      </p:sp>
      <p:pic>
        <p:nvPicPr>
          <p:cNvPr id="26" name="Image 5" descr="Trash2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8498" y="4006901"/>
            <a:ext cx="307238" cy="307238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8859317" y="3886200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end</a:t>
            </a:r>
            <a:endParaRPr lang="en-US" sz="1400" dirty="0"/>
          </a:p>
        </p:txBody>
      </p:sp>
      <p:sp>
        <p:nvSpPr>
          <p:cNvPr id="28" name="Text 20"/>
          <p:cNvSpPr txBox="1"/>
          <p:nvPr/>
        </p:nvSpPr>
        <p:spPr>
          <a:xfrm>
            <a:off x="8859317" y="4526280"/>
            <a:ext cx="26922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 the end of the pilot your files are returned or deleted, as you choose.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B6472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400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four-person team from SKEMA Business School, focused on one problem: off-plan collections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WHO WE ARE</a:t>
            </a:r>
            <a:endParaRPr lang="en-US" sz="9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1828800" y="640080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Six-month faculty-supervised programme (AI-native track, SKEMA Business School)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81037" y="1691640"/>
            <a:ext cx="1737360" cy="1737360"/>
          </a:xfrm>
          <a:prstGeom prst="ellipse">
            <a:avLst/>
          </a:prstGeom>
          <a:solidFill>
            <a:srgbClr val="F4F5F7"/>
          </a:solidFill>
          <a:ln w="9525">
            <a:solidFill>
              <a:srgbClr val="D5D8DE"/>
            </a:solidFill>
            <a:prstDash val="solid"/>
          </a:ln>
        </p:spPr>
      </p:sp>
      <p:pic>
        <p:nvPicPr>
          <p:cNvPr id="6" name="Image 0" descr="Photo à insér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9677" y="2240280"/>
            <a:ext cx="640080" cy="6400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3566160"/>
            <a:ext cx="26021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Jennifer El Karaki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950208"/>
            <a:ext cx="26021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STRATEGY AND PROCESS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575397" y="4343400"/>
            <a:ext cx="548640" cy="0"/>
          </a:xfrm>
          <a:prstGeom prst="line">
            <a:avLst/>
          </a:prstGeom>
          <a:noFill/>
          <a:ln w="9525">
            <a:solidFill>
              <a:srgbClr val="C9A86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4480560"/>
            <a:ext cx="24192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MSc Strategic Management and Consulting, SKEMA.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811791" y="1691640"/>
            <a:ext cx="1737360" cy="1737360"/>
          </a:xfrm>
          <a:prstGeom prst="ellipse">
            <a:avLst/>
          </a:prstGeom>
          <a:solidFill>
            <a:srgbClr val="F4F5F7"/>
          </a:solidFill>
          <a:ln w="19050">
            <a:solidFill>
              <a:srgbClr val="8A6A3A"/>
            </a:solidFill>
            <a:prstDash val="solid"/>
          </a:ln>
        </p:spPr>
      </p:sp>
      <p:pic>
        <p:nvPicPr>
          <p:cNvPr id="12" name="Image 1" descr="Photo à insér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0431" y="2240280"/>
            <a:ext cx="640080" cy="6400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379394" y="3566160"/>
            <a:ext cx="26021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Karam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3379394" y="3950208"/>
            <a:ext cx="26021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 AND PROTOTYPE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406151" y="4343400"/>
            <a:ext cx="548640" cy="0"/>
          </a:xfrm>
          <a:prstGeom prst="line">
            <a:avLst/>
          </a:prstGeom>
          <a:noFill/>
          <a:ln w="9525">
            <a:solidFill>
              <a:srgbClr val="C9A86A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3470834" y="4480560"/>
            <a:ext cx="24192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Builds the Halden engine and its prototype.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642544" y="1691640"/>
            <a:ext cx="1737360" cy="1737360"/>
          </a:xfrm>
          <a:prstGeom prst="ellipse">
            <a:avLst/>
          </a:prstGeom>
          <a:solidFill>
            <a:srgbClr val="F4F5F7"/>
          </a:solidFill>
          <a:ln w="9525">
            <a:solidFill>
              <a:srgbClr val="D5D8DE"/>
            </a:solidFill>
            <a:prstDash val="solid"/>
          </a:ln>
        </p:spPr>
      </p:sp>
      <p:pic>
        <p:nvPicPr>
          <p:cNvPr id="18" name="Image 2" descr="Photo à insér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184" y="2240280"/>
            <a:ext cx="640080" cy="6400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210148" y="3566160"/>
            <a:ext cx="26021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Dhruv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6210148" y="3950208"/>
            <a:ext cx="26021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FOUNDING MEMBER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7236904" y="4343400"/>
            <a:ext cx="548640" cy="0"/>
          </a:xfrm>
          <a:prstGeom prst="line">
            <a:avLst/>
          </a:prstGeom>
          <a:noFill/>
          <a:ln w="9525">
            <a:solidFill>
              <a:srgbClr val="C9A86A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301588" y="4480560"/>
            <a:ext cx="24192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SKEMA Business School.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9473298" y="1691640"/>
            <a:ext cx="1737360" cy="1737360"/>
          </a:xfrm>
          <a:prstGeom prst="ellipse">
            <a:avLst/>
          </a:prstGeom>
          <a:solidFill>
            <a:srgbClr val="F4F5F7"/>
          </a:solidFill>
          <a:ln w="9525">
            <a:solidFill>
              <a:srgbClr val="D5D8DE"/>
            </a:solidFill>
            <a:prstDash val="solid"/>
          </a:ln>
        </p:spPr>
      </p:sp>
      <p:pic>
        <p:nvPicPr>
          <p:cNvPr id="24" name="Image 3" descr="Photo à insér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1938" y="2240280"/>
            <a:ext cx="640080" cy="64008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040901" y="3566160"/>
            <a:ext cx="26021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Thomas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9040901" y="3950208"/>
            <a:ext cx="26021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FOUNDING MEMBER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10067658" y="4343400"/>
            <a:ext cx="548640" cy="0"/>
          </a:xfrm>
          <a:prstGeom prst="line">
            <a:avLst/>
          </a:prstGeom>
          <a:noFill/>
          <a:ln w="9525">
            <a:solidFill>
              <a:srgbClr val="C9A86A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9132341" y="4480560"/>
            <a:ext cx="24192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SKEMA Business School.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548640" y="5486400"/>
            <a:ext cx="11094415" cy="59436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30" name="Text 24"/>
          <p:cNvSpPr txBox="1"/>
          <p:nvPr/>
        </p:nvSpPr>
        <p:spPr>
          <a:xfrm>
            <a:off x="777240" y="5486400"/>
            <a:ext cx="10637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exists today: </a:t>
            </a:r>
            <a:pPr indent="0" marL="0">
              <a:buNone/>
            </a:pPr>
            <a:r>
              <a:rPr lang="en-US" sz="110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website with an interactive demo, and a working prototype of the collections engine with 25 automated tests. No client yet: you would be the first.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B6472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400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pilot is free; after it, an indicative AED 6 to 12 per unit per month, plus AED 15,000 per project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INDICATIVE PRICING</a:t>
            </a:r>
            <a:endParaRPr lang="en-US" sz="9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1828800" y="640080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Indicative prices, as on the Halden website. The final price is agreed in writing before the pilot and applies only if the success numbers are met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515258" cy="320040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920240"/>
            <a:ext cx="28751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AED 0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868680" y="3108960"/>
            <a:ext cx="548640" cy="0"/>
          </a:xfrm>
          <a:prstGeom prst="line">
            <a:avLst/>
          </a:prstGeom>
          <a:noFill/>
          <a:ln w="9525">
            <a:solidFill>
              <a:srgbClr val="8A6A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3291840"/>
            <a:ext cx="28751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SHADOW PILOT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657600"/>
            <a:ext cx="28751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Four weeks, one tower, nothing sent to your buyers.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38218" y="1645920"/>
            <a:ext cx="3515258" cy="320040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58258" y="1920240"/>
            <a:ext cx="28751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AED 15,000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4658258" y="3108960"/>
            <a:ext cx="548640" cy="0"/>
          </a:xfrm>
          <a:prstGeom prst="line">
            <a:avLst/>
          </a:prstGeom>
          <a:noFill/>
          <a:ln w="9525">
            <a:solidFill>
              <a:srgbClr val="8A6A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58258" y="3291840"/>
            <a:ext cx="28751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SET-UP PER PROJECT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658258" y="3657600"/>
            <a:ext cx="28751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Rule pack, payment plans, prices and buyers imported.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27797" y="1645920"/>
            <a:ext cx="3515258" cy="3200400"/>
          </a:xfrm>
          <a:prstGeom prst="rect">
            <a:avLst/>
          </a:prstGeom>
          <a:solidFill>
            <a:srgbClr val="0B142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47837" y="1920240"/>
            <a:ext cx="28751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AED 6–12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8447837" y="3108960"/>
            <a:ext cx="548640" cy="0"/>
          </a:xfrm>
          <a:prstGeom prst="line">
            <a:avLst/>
          </a:prstGeom>
          <a:noFill/>
          <a:ln w="9525">
            <a:solidFill>
              <a:srgbClr val="C9A86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47837" y="3291840"/>
            <a:ext cx="28751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 UNIT, PER MONTH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8447837" y="3657600"/>
            <a:ext cx="28751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the first call to the final instalment at handover.</a:t>
            </a:r>
            <a:endParaRPr lang="en-US" sz="1150" dirty="0"/>
          </a:p>
        </p:txBody>
      </p:sp>
      <p:sp>
        <p:nvSpPr>
          <p:cNvPr id="20" name="Cadre"/>
          <p:cNvSpPr/>
          <p:nvPr/>
        </p:nvSpPr>
        <p:spPr>
          <a:xfrm>
            <a:off x="548640" y="5120640"/>
            <a:ext cx="11094415" cy="914400"/>
          </a:xfrm>
          <a:prstGeom prst="rect">
            <a:avLst/>
          </a:prstGeom>
          <a:solidFill>
            <a:schemeClr val="bg1"/>
          </a:solidFill>
          <a:ln w="9525">
            <a:solidFill>
              <a:srgbClr val="D5D8D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512064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 scale: </a:t>
            </a:r>
            <a:pPr indent="0" marL="0">
              <a:buNone/>
            </a:pPr>
            <a:r>
              <a:rPr lang="en-US" sz="115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300-unit tower at AED 9 per unit comes to AED 2,700 a month. Where you sit in the range depends on the number of units and languages.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B6472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400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 with a free four-week shadow pilot: nothing is sent to your buyers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SHADOW PILOT</a:t>
            </a:r>
            <a:endParaRPr lang="en-US" sz="9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1828800" y="640080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Paid terms agreed in writing before the pilot starts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468880" cy="2103120"/>
          </a:xfrm>
          <a:prstGeom prst="rect">
            <a:avLst/>
          </a:prstGeom>
          <a:solidFill>
            <a:srgbClr val="0B142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78308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17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154680" y="1600200"/>
            <a:ext cx="2468880" cy="210312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29000" y="178308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3017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TOWER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2468880" cy="210312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402336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</a:t>
            </a:r>
            <a:endParaRPr lang="en-US" sz="60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257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MESSAGES TO BUYERS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154680" y="3840480"/>
            <a:ext cx="2468880" cy="210312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429000" y="402336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</a:t>
            </a:r>
            <a:endParaRPr lang="en-US" sz="600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5257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AED DURING THE PILOT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141732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IT RUNS</a:t>
            </a:r>
            <a:endParaRPr lang="en-US" sz="900" dirty="0"/>
          </a:p>
        </p:txBody>
      </p:sp>
      <p:sp>
        <p:nvSpPr>
          <p:cNvPr id="18" name="Filet"/>
          <p:cNvSpPr/>
          <p:nvPr/>
        </p:nvSpPr>
        <p:spPr>
          <a:xfrm>
            <a:off x="6035040" y="1764792"/>
            <a:ext cx="5608015" cy="0"/>
          </a:xfrm>
          <a:prstGeom prst="line">
            <a:avLst/>
          </a:prstGeom>
          <a:noFill/>
          <a:ln w="6350">
            <a:solidFill>
              <a:srgbClr val="0B142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1920240"/>
            <a:ext cx="54864" cy="914400"/>
          </a:xfrm>
          <a:prstGeom prst="rect">
            <a:avLst/>
          </a:prstGeom>
          <a:solidFill>
            <a:srgbClr val="0B142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63640" y="19202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 1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2176272"/>
            <a:ext cx="5379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Set-up and baseline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263640" y="2468880"/>
            <a:ext cx="5379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Payment plans, prices and buyers imported. We measure how long your team takes today.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35040" y="2999232"/>
            <a:ext cx="54864" cy="914400"/>
          </a:xfrm>
          <a:prstGeom prst="rect">
            <a:avLst/>
          </a:prstGeom>
          <a:solidFill>
            <a:srgbClr val="8A6A3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263640" y="29992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MILESTONE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6263640" y="3255264"/>
            <a:ext cx="5379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Shadow run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263640" y="3547872"/>
            <a:ext cx="5379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team works as usual; Halden prepares the same cycle in parallel. We compare line by line.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35040" y="4078224"/>
            <a:ext cx="54864" cy="914400"/>
          </a:xfrm>
          <a:prstGeom prst="rect">
            <a:avLst/>
          </a:prstGeom>
          <a:solidFill>
            <a:srgbClr val="0B142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263640" y="40782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 4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6263640" y="4334256"/>
            <a:ext cx="5379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Written comparison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263640" y="4626864"/>
            <a:ext cx="5379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Time, accuracy, matching, escalations. You decide whether to go live, with your team approving every message.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35040" y="5257800"/>
            <a:ext cx="5608015" cy="77724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263640" y="5257800"/>
            <a:ext cx="51508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need from you: </a:t>
            </a:r>
            <a:pPr indent="0" marL="0">
              <a:buNone/>
            </a:pPr>
            <a:r>
              <a:rPr lang="en-US" sz="110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finance contact, anonymised samples, 30 minutes a week.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B6472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400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Four numbers, measured on your own data, side by side with your finance team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THE PILOT IS JUDGED</a:t>
            </a:r>
            <a:endParaRPr lang="en-US" sz="9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1828800" y="640080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96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Targets set with you before the pilot. Baselines measured at your office in week 1. The demo rate (14 of 19) says nothing yet about your statements</a:t>
            </a:r>
            <a:endParaRPr lang="en-US" sz="900" dirty="0"/>
          </a:p>
        </p:txBody>
      </p:sp>
      <p:sp>
        <p:nvSpPr>
          <p:cNvPr id="5" name="Sticker"/>
          <p:cNvSpPr/>
          <p:nvPr/>
        </p:nvSpPr>
        <p:spPr>
          <a:xfrm>
            <a:off x="9997135" y="347472"/>
            <a:ext cx="1645920" cy="237744"/>
          </a:xfrm>
          <a:prstGeom prst="rect">
            <a:avLst/>
          </a:prstGeom>
          <a:solidFill>
            <a:srgbClr val="0B1426">
              <a:alpha val="0"/>
            </a:srgbClr>
          </a:solidFill>
          <a:ln w="9525">
            <a:solidFill>
              <a:srgbClr val="C9A86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997135" y="34747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PILOT TARGETS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2636444" cy="4206240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C9A86A">
                <a:alpha val="30000"/>
              </a:srgbClr>
            </a:solidFill>
            <a:prstDash val="solid"/>
          </a:ln>
        </p:spPr>
      </p:sp>
      <p:pic>
        <p:nvPicPr>
          <p:cNvPr id="8" name="Image 0" descr="Cl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11680"/>
            <a:ext cx="411480" cy="411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22960" y="2743200"/>
            <a:ext cx="21792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Time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886200"/>
            <a:ext cx="20878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team hours to prepare the milestone, against your week-1 baseline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22960" y="5074920"/>
            <a:ext cx="2087804" cy="0"/>
          </a:xfrm>
          <a:prstGeom prst="line">
            <a:avLst/>
          </a:prstGeom>
          <a:noFill/>
          <a:ln w="6350">
            <a:solidFill>
              <a:srgbClr val="C9A86A">
                <a:alpha val="4000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5212080"/>
            <a:ext cx="20878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VS YOUR BASELINE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367964" y="1691640"/>
            <a:ext cx="2636444" cy="4206240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C9A86A">
                <a:alpha val="30000"/>
              </a:srgbClr>
            </a:solidFill>
            <a:prstDash val="solid"/>
          </a:ln>
        </p:spPr>
      </p:sp>
      <p:pic>
        <p:nvPicPr>
          <p:cNvPr id="14" name="Image 1" descr="Repe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8004" y="201168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642284" y="2743200"/>
            <a:ext cx="21792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Matching</a:t>
            </a:r>
            <a:endParaRPr lang="en-US" sz="3200" dirty="0"/>
          </a:p>
        </p:txBody>
      </p:sp>
      <p:sp>
        <p:nvSpPr>
          <p:cNvPr id="16" name="Text 12"/>
          <p:cNvSpPr txBox="1"/>
          <p:nvPr/>
        </p:nvSpPr>
        <p:spPr>
          <a:xfrm>
            <a:off x="3642284" y="3886200"/>
            <a:ext cx="20878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share of your transfers matched with no human, on your real statements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3642284" y="5074920"/>
            <a:ext cx="2087804" cy="0"/>
          </a:xfrm>
          <a:prstGeom prst="line">
            <a:avLst/>
          </a:prstGeom>
          <a:noFill/>
          <a:ln w="6350">
            <a:solidFill>
              <a:srgbClr val="C9A86A">
                <a:alpha val="40000"/>
              </a:srgbClr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3642284" y="5212080"/>
            <a:ext cx="20878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MEASURED IN THE PILOT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6187288" y="1691640"/>
            <a:ext cx="2636444" cy="4206240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C9A86A">
                <a:alpha val="30000"/>
              </a:srgbClr>
            </a:solidFill>
            <a:prstDash val="solid"/>
          </a:ln>
        </p:spPr>
      </p:sp>
      <p:pic>
        <p:nvPicPr>
          <p:cNvPr id="20" name="Image 2" descr="AlertTriang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7328" y="2011680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461608" y="2743200"/>
            <a:ext cx="21792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</a:t>
            </a:r>
            <a:endParaRPr lang="en-US" sz="3200" dirty="0"/>
          </a:p>
        </p:txBody>
      </p:sp>
      <p:sp>
        <p:nvSpPr>
          <p:cNvPr id="22" name="Text 17"/>
          <p:cNvSpPr txBox="1"/>
          <p:nvPr/>
        </p:nvSpPr>
        <p:spPr>
          <a:xfrm>
            <a:off x="6461608" y="3886200"/>
            <a:ext cx="20878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amount errors and wrong automatic matches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6461608" y="5074920"/>
            <a:ext cx="2087804" cy="0"/>
          </a:xfrm>
          <a:prstGeom prst="line">
            <a:avLst/>
          </a:prstGeom>
          <a:noFill/>
          <a:ln w="6350">
            <a:solidFill>
              <a:srgbClr val="C9A86A">
                <a:alpha val="40000"/>
              </a:srgbClr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6461608" y="5212080"/>
            <a:ext cx="20878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NON-NEGOTIABLE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9006611" y="1691640"/>
            <a:ext cx="2636444" cy="4206240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C9A86A">
                <a:alpha val="30000"/>
              </a:srgbClr>
            </a:solidFill>
            <a:prstDash val="solid"/>
          </a:ln>
        </p:spPr>
      </p:sp>
      <p:pic>
        <p:nvPicPr>
          <p:cNvPr id="26" name="Image 3" descr="Bel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651" y="2011680"/>
            <a:ext cx="411480" cy="41148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280931" y="2743200"/>
            <a:ext cx="21792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100 %</a:t>
            </a:r>
            <a:endParaRPr lang="en-US" sz="3200" dirty="0"/>
          </a:p>
        </p:txBody>
      </p:sp>
      <p:sp>
        <p:nvSpPr>
          <p:cNvPr id="28" name="Text 22"/>
          <p:cNvSpPr txBox="1"/>
          <p:nvPr/>
        </p:nvSpPr>
        <p:spPr>
          <a:xfrm>
            <a:off x="9280931" y="3886200"/>
            <a:ext cx="20878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 buyer replies like "I paid" or "my lawyer" escalated to a person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9280931" y="5074920"/>
            <a:ext cx="2087804" cy="0"/>
          </a:xfrm>
          <a:prstGeom prst="line">
            <a:avLst/>
          </a:prstGeom>
          <a:noFill/>
          <a:ln w="6350">
            <a:solidFill>
              <a:srgbClr val="C9A86A">
                <a:alpha val="40000"/>
              </a:srgbClr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9280931" y="5212080"/>
            <a:ext cx="20878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NON-NEGOTIABLE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8C96A8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400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Three steps to a shadow run on your next milestone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1828800" y="640080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Halden · haldennn.netlify.app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1094415" cy="0"/>
          </a:xfrm>
          <a:prstGeom prst="line">
            <a:avLst/>
          </a:prstGeom>
          <a:noFill/>
          <a:ln w="9525">
            <a:solidFill>
              <a:srgbClr val="D5D8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74520"/>
            <a:ext cx="548640" cy="548640"/>
          </a:xfrm>
          <a:prstGeom prst="ellipse">
            <a:avLst/>
          </a:prstGeom>
          <a:solidFill>
            <a:srgbClr val="0B142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743200"/>
            <a:ext cx="33323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30-minute call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548640" cy="0"/>
          </a:xfrm>
          <a:prstGeom prst="line">
            <a:avLst/>
          </a:prstGeom>
          <a:noFill/>
          <a:ln w="9525">
            <a:solidFill>
              <a:srgbClr val="C9A86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520440"/>
            <a:ext cx="324093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With your finance or collections lead: how a milestone runs today, which tools, which banks, what went wrong last time.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38218" y="1874520"/>
            <a:ext cx="548640" cy="548640"/>
          </a:xfrm>
          <a:prstGeom prst="ellipse">
            <a:avLst/>
          </a:prstGeom>
          <a:solidFill>
            <a:srgbClr val="0B142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38218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338218" y="2743200"/>
            <a:ext cx="33323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Anonymised samples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338218" y="3337560"/>
            <a:ext cx="548640" cy="0"/>
          </a:xfrm>
          <a:prstGeom prst="line">
            <a:avLst/>
          </a:prstGeom>
          <a:noFill/>
          <a:ln w="9525">
            <a:solidFill>
              <a:srgbClr val="C9A86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38218" y="3520440"/>
            <a:ext cx="324093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payment request, one payment plan and one bank statement extract. Nothing identifiable.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27797" y="1874520"/>
            <a:ext cx="548640" cy="548640"/>
          </a:xfrm>
          <a:prstGeom prst="ellipse">
            <a:avLst/>
          </a:prstGeom>
          <a:solidFill>
            <a:srgbClr val="8A6A3A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27797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127797" y="2743200"/>
            <a:ext cx="33323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Shadow run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127797" y="3337560"/>
            <a:ext cx="548640" cy="0"/>
          </a:xfrm>
          <a:prstGeom prst="line">
            <a:avLst/>
          </a:prstGeom>
          <a:noFill/>
          <a:ln w="9525">
            <a:solidFill>
              <a:srgbClr val="C9A86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27797" y="3520440"/>
            <a:ext cx="324093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 your next certified milestone. Side-by-side comparison; nothing is sent to your buyers.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5120640"/>
            <a:ext cx="11094415" cy="868680"/>
          </a:xfrm>
          <a:prstGeom prst="rect">
            <a:avLst/>
          </a:prstGeom>
          <a:solidFill>
            <a:srgbClr val="0B142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" y="51206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ask today: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book the 30-minute call with the person who runs your collections.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B6472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19456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promise, carried through.</a:t>
            </a:r>
            <a:endParaRPr lang="en-US" sz="30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548640" y="37947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Halden · haldennn.netlify.app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Halden">
  <a:themeElements>
    <a:clrScheme name="Halden">
      <a:dk1>
        <a:srgbClr val="0B1426"/>
      </a:dk1>
      <a:lt1>
        <a:srgbClr val="FFFFFF"/>
      </a:lt1>
      <a:dk2>
        <a:srgbClr val="0B1426"/>
      </a:dk2>
      <a:lt2>
        <a:srgbClr val="F4F5F7"/>
      </a:lt2>
      <a:accent1>
        <a:srgbClr val="0B1426"/>
      </a:accent1>
      <a:accent2>
        <a:srgbClr val="C9A86A"/>
      </a:accent2>
      <a:accent3>
        <a:srgbClr val="8A6A3A"/>
      </a:accent3>
      <a:accent4>
        <a:srgbClr val="5B6472"/>
      </a:accent4>
      <a:accent5>
        <a:srgbClr val="050A15"/>
      </a:accent5>
      <a:accent6>
        <a:srgbClr val="B42318"/>
      </a:accent6>
      <a:hlink>
        <a:srgbClr val="8A6A3A"/>
      </a:hlink>
      <a:folHlink>
        <a:srgbClr val="5B6472"/>
      </a:folHlink>
    </a:clrScheme>
    <a:fontScheme name="Halden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IBM Plex Sans Arabic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IBM Plex Sans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Halden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Halden: client presentation</dc:title>
  <dc:subject>PptxGenJS Presentation</dc:subject>
  <dc:creator>Halden</dc:creator>
  <cp:lastModifiedBy>Halden</cp:lastModifiedBy>
  <cp:revision>1</cp:revision>
  <dcterms:created xsi:type="dcterms:W3CDTF">2026-10-25T16:20:45Z</dcterms:created>
  <dcterms:modified xsi:type="dcterms:W3CDTF">2026-10-25T16:20:45Z</dcterms:modified>
</cp:coreProperties>
</file>