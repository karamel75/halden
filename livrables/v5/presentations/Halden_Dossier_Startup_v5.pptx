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ynthèse" id="{c605c616-34e1-f0a7-2a74-b3cdf3bb0dad}">
          <p14:sldIdLst>
            <p14:sldId id="256"/>
            <p14:sldId id="257"/>
          </p14:sldIdLst>
        </p14:section>
        <p14:section name="Problème et marché" id="{cd0c91bd-7e8e-5597-0e4b-b4d1f7676f1e}">
          <p14:sldIdLst>
            <p14:sldId id="258"/>
            <p14:sldId id="259"/>
            <p14:sldId id="260"/>
          </p14:sldIdLst>
        </p14:section>
        <p14:section name="Halden" id="{502367ed-0c4e-80fa-e235-9d53b67b2568}">
          <p14:sldIdLst>
            <p14:sldId id="261"/>
            <p14:sldId id="262"/>
            <p14:sldId id="263"/>
          </p14:sldIdLst>
        </p14:section>
        <p14:section name="Modèle et pilote" id="{93e2e71f-5a59-d699-b38e-ae158cfd1eb2}">
          <p14:sldIdLst>
            <p14:sldId id="264"/>
            <p14:sldId id="265"/>
            <p14:sldId id="266"/>
          </p14:sldIdLst>
        </p14:section>
        <p14:section name="Équipe" id="{bff3d13d-9c3d-c021-70ae-6645b573ba36}">
          <p14:sldIdLst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H_DARK-image-1.png"/><Relationship Id="rId2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H_COVER-image-1.png"/><Relationship Id="rId2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image" Target="../media/H_DIVIDER-image-1.png"/><Relationship Id="rId2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image" Target="../media/H_END-image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_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600" kern="0" dirty="0">
                <a:solidFill>
                  <a:srgbClr val="0B142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HALDEN</a:t>
            </a:r>
            <a:endParaRPr lang="en-US" sz="900" dirty="0"/>
          </a:p>
        </p:txBody>
      </p:sp>
      <p:sp>
        <p:nvSpPr>
          <p:cNvPr id="3" name="Text 1"/>
          <p:cNvSpPr/>
          <p:nvPr>
            <p:ph idx="101" type="body" hasCustomPrompt="1"/>
          </p:nvPr>
        </p:nvSpPr>
        <p:spPr>
          <a:xfrm>
            <a:off x="548640" y="347472"/>
            <a:ext cx="11094415" cy="237744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900" b="1" spc="300" kern="0" dirty="0">
                <a:solidFill>
                  <a:srgbClr val="8A6A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algn="l" indent="0" marL="0">
              <a:buNone/>
            </a:pPr>
            <a:r>
              <a:rPr lang="en-US" sz="900" b="1" spc="300" kern="0" dirty="0">
                <a:solidFill>
                  <a:srgbClr val="8A6A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SECTION · SUJET</a:t>
            </a:r>
            <a:endParaRPr lang="en-US" sz="9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548640" y="640080"/>
            <a:ext cx="11094415" cy="74980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95000"/>
              </a:lnSpc>
              <a:buNone/>
              <a:defRPr lang="en-US" sz="2000" b="1" dirty="0">
                <a:solidFill>
                  <a:schemeClr val="tx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algn="l" indent="0" marL="0">
              <a:lnSpc>
                <a:spcPct val="95000"/>
              </a:lnSpc>
              <a:buNone/>
            </a:pPr>
            <a:r>
              <a:rPr lang="en-US" sz="2000" b="1" dirty="0">
                <a:solidFill>
                  <a:schemeClr val="tx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Titre d'action : la conclusion de la slide en une phrase</a:t>
            </a:r>
            <a:endParaRPr lang="en-US" sz="2000" dirty="0"/>
          </a:p>
        </p:txBody>
      </p:sp>
      <p:sp>
        <p:nvSpPr>
          <p:cNvPr id="5" name="Text 1"/>
          <p:cNvSpPr/>
          <p:nvPr>
            <p:ph idx="103" type="body" hasCustomPrompt="1"/>
          </p:nvPr>
        </p:nvSpPr>
        <p:spPr>
          <a:xfrm>
            <a:off x="1828800" y="6400800"/>
            <a:ext cx="896112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900" dirty="0">
                <a:solidFill>
                  <a:srgbClr val="5B647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Source : organisme, document, date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5B6472"/>
                </a:solidFill>
                <a:latin typeface="Montserrat"/>
                <a:ea typeface="Montserrat"/>
                <a:cs typeface="Montserrat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_DARK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6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HALDEN</a:t>
            </a:r>
            <a:endParaRPr lang="en-US" sz="900" dirty="0"/>
          </a:p>
        </p:txBody>
      </p:sp>
      <p:sp>
        <p:nvSpPr>
          <p:cNvPr id="3" name="Text 1"/>
          <p:cNvSpPr/>
          <p:nvPr>
            <p:ph idx="101" type="body" hasCustomPrompt="1"/>
          </p:nvPr>
        </p:nvSpPr>
        <p:spPr>
          <a:xfrm>
            <a:off x="548640" y="347472"/>
            <a:ext cx="11094415" cy="237744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900" b="1" spc="300" kern="0" dirty="0">
                <a:solidFill>
                  <a:srgbClr val="C9A86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algn="l" indent="0" marL="0">
              <a:buNone/>
            </a:pPr>
            <a:r>
              <a:rPr lang="en-US" sz="900" b="1" spc="300" kern="0" dirty="0">
                <a:solidFill>
                  <a:srgbClr val="C9A86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SECTION · SUJET</a:t>
            </a:r>
            <a:endParaRPr lang="en-US" sz="9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548640" y="640080"/>
            <a:ext cx="11094415" cy="74980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95000"/>
              </a:lnSpc>
              <a:buNone/>
              <a:defRPr lang="en-US" sz="2000" b="1" dirty="0">
                <a:solidFill>
                  <a:schemeClr val="bg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algn="l" indent="0" marL="0">
              <a:lnSpc>
                <a:spcPct val="95000"/>
              </a:lnSpc>
              <a:buNone/>
            </a:pPr>
            <a:r>
              <a:rPr lang="en-US" sz="2000" b="1" dirty="0">
                <a:solidFill>
                  <a:schemeClr val="bg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Titre d'action : la conclusion de la slide en une phrase</a:t>
            </a:r>
            <a:endParaRPr lang="en-US" sz="2000" dirty="0"/>
          </a:p>
        </p:txBody>
      </p:sp>
      <p:sp>
        <p:nvSpPr>
          <p:cNvPr id="5" name="Text 1"/>
          <p:cNvSpPr/>
          <p:nvPr>
            <p:ph idx="103" type="body" hasCustomPrompt="1"/>
          </p:nvPr>
        </p:nvSpPr>
        <p:spPr>
          <a:xfrm>
            <a:off x="1828800" y="6400800"/>
            <a:ext cx="896112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900" dirty="0">
                <a:solidFill>
                  <a:srgbClr val="8C96A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algn="l" indent="0" marL="0">
              <a:buNone/>
            </a:pPr>
            <a:r>
              <a:rPr lang="en-US" sz="900" dirty="0">
                <a:solidFill>
                  <a:srgbClr val="8C96A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Source : organisme, document, date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8C96A8"/>
                </a:solidFill>
                <a:latin typeface="Montserrat"/>
                <a:ea typeface="Montserrat"/>
                <a:cs typeface="Montserrat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_COVER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HALDEN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548640" y="3931920"/>
            <a:ext cx="1097280" cy="0"/>
          </a:xfrm>
          <a:prstGeom prst="line">
            <a:avLst/>
          </a:prstGeom>
          <a:noFill/>
          <a:ln w="12700">
            <a:solidFill>
              <a:srgbClr val="C9A86A"/>
            </a:solidFill>
            <a:prstDash val="solid"/>
          </a:ln>
        </p:spPr>
      </p:sp>
      <p:sp>
        <p:nvSpPr>
          <p:cNvPr id="4" name="Text 2"/>
          <p:cNvSpPr/>
          <p:nvPr>
            <p:ph idx="102" type="body" hasCustomPrompt="1"/>
          </p:nvPr>
        </p:nvSpPr>
        <p:spPr>
          <a:xfrm>
            <a:off x="548640" y="1828800"/>
            <a:ext cx="68580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900" b="1" spc="400" kern="0" dirty="0">
                <a:solidFill>
                  <a:srgbClr val="C9A86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algn="l" indent="0" marL="0">
              <a:buNone/>
            </a:pPr>
            <a:r>
              <a:rPr lang="en-US" sz="900" b="1" spc="400" kern="0" dirty="0">
                <a:solidFill>
                  <a:srgbClr val="C9A86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DOCUMENT DE TRAVAIL · MOIS ANNÉE</a:t>
            </a:r>
            <a:endParaRPr lang="en-US" sz="900" dirty="0"/>
          </a:p>
        </p:txBody>
      </p:sp>
      <p:sp>
        <p:nvSpPr>
          <p:cNvPr id="5" name="Text 2"/>
          <p:cNvSpPr/>
          <p:nvPr>
            <p:ph idx="103" type="title" hasCustomPrompt="1"/>
          </p:nvPr>
        </p:nvSpPr>
        <p:spPr>
          <a:xfrm>
            <a:off x="548640" y="2194560"/>
            <a:ext cx="6949440" cy="16002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95000"/>
              </a:lnSpc>
              <a:buNone/>
              <a:defRPr lang="en-US" sz="3400" b="1" dirty="0">
                <a:solidFill>
                  <a:schemeClr val="bg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algn="l" indent="0" marL="0">
              <a:lnSpc>
                <a:spcPct val="95000"/>
              </a:lnSpc>
              <a:buNone/>
            </a:pPr>
            <a:r>
              <a:rPr lang="en-US" sz="3400" b="1" dirty="0">
                <a:solidFill>
                  <a:schemeClr val="bg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Titre de la présentation</a:t>
            </a:r>
            <a:endParaRPr lang="en-US" sz="3400" dirty="0"/>
          </a:p>
        </p:txBody>
      </p:sp>
      <p:sp>
        <p:nvSpPr>
          <p:cNvPr id="6" name="Text 2"/>
          <p:cNvSpPr/>
          <p:nvPr>
            <p:ph idx="104" type="body" hasCustomPrompt="1"/>
          </p:nvPr>
        </p:nvSpPr>
        <p:spPr>
          <a:xfrm>
            <a:off x="548640" y="4114800"/>
            <a:ext cx="658368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400" dirty="0">
                <a:solidFill>
                  <a:srgbClr val="C8CFD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400" dirty="0">
                <a:solidFill>
                  <a:srgbClr val="C8CFD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Sous-titre</a:t>
            </a:r>
            <a:endParaRPr lang="en-US" sz="1400" dirty="0"/>
          </a:p>
        </p:txBody>
      </p:sp>
      <p:sp>
        <p:nvSpPr>
          <p:cNvPr id="7" name="Text 2"/>
          <p:cNvSpPr/>
          <p:nvPr/>
        </p:nvSpPr>
        <p:spPr>
          <a:xfrm>
            <a:off x="548640" y="62636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C9A86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Every promise, carried through.</a:t>
            </a:r>
            <a:endParaRPr lang="en-US" sz="900" dirty="0"/>
          </a:p>
        </p:txBody>
      </p:sp>
      <p:sp>
        <p:nvSpPr>
          <p:cNvPr id="8" name="Text 3"/>
          <p:cNvSpPr/>
          <p:nvPr/>
        </p:nvSpPr>
        <p:spPr>
          <a:xfrm>
            <a:off x="8412480" y="6263640"/>
            <a:ext cx="3227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400" kern="0" dirty="0">
                <a:solidFill>
                  <a:srgbClr val="C8CFD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DUBAÏ · 2026</a:t>
            </a:r>
            <a:endParaRPr lang="en-US" sz="90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_DIVIDER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6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HALDEN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548640" y="3611880"/>
            <a:ext cx="1097280" cy="0"/>
          </a:xfrm>
          <a:prstGeom prst="line">
            <a:avLst/>
          </a:prstGeom>
          <a:noFill/>
          <a:ln w="12700">
            <a:solidFill>
              <a:srgbClr val="C9A86A"/>
            </a:solidFill>
            <a:prstDash val="solid"/>
          </a:ln>
        </p:spPr>
      </p:sp>
      <p:sp>
        <p:nvSpPr>
          <p:cNvPr id="4" name="Text 2"/>
          <p:cNvSpPr/>
          <p:nvPr>
            <p:ph idx="102" type="body" hasCustomPrompt="1"/>
          </p:nvPr>
        </p:nvSpPr>
        <p:spPr>
          <a:xfrm>
            <a:off x="548640" y="1737360"/>
            <a:ext cx="274320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dirty="0">
                <a:solidFill>
                  <a:srgbClr val="C9A86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algn="l" indent="0" marL="0">
              <a:buNone/>
            </a:pPr>
            <a:r>
              <a:rPr lang="en-US" sz="4400" dirty="0">
                <a:solidFill>
                  <a:srgbClr val="C9A86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4400" dirty="0"/>
          </a:p>
        </p:txBody>
      </p:sp>
      <p:sp>
        <p:nvSpPr>
          <p:cNvPr id="5" name="Text 2"/>
          <p:cNvSpPr/>
          <p:nvPr>
            <p:ph idx="103" type="title" hasCustomPrompt="1"/>
          </p:nvPr>
        </p:nvSpPr>
        <p:spPr>
          <a:xfrm>
            <a:off x="548640" y="2697480"/>
            <a:ext cx="822960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bg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Titre de section</a:t>
            </a:r>
            <a:endParaRPr lang="en-US" sz="3200" dirty="0"/>
          </a:p>
        </p:txBody>
      </p:sp>
      <p:sp>
        <p:nvSpPr>
          <p:cNvPr id="6" name="Text 2"/>
          <p:cNvSpPr/>
          <p:nvPr>
            <p:ph idx="104" type="body" hasCustomPrompt="1"/>
          </p:nvPr>
        </p:nvSpPr>
        <p:spPr>
          <a:xfrm>
            <a:off x="548640" y="3794760"/>
            <a:ext cx="685800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400" dirty="0">
                <a:solidFill>
                  <a:srgbClr val="C8CFD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400" dirty="0">
                <a:solidFill>
                  <a:srgbClr val="C8CFD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Ce que la section démontre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C8CFDA"/>
                </a:solidFill>
                <a:latin typeface="Montserrat"/>
                <a:ea typeface="Montserrat"/>
                <a:cs typeface="Montserrat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_END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HALDEN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548640" y="3611880"/>
            <a:ext cx="1097280" cy="0"/>
          </a:xfrm>
          <a:prstGeom prst="line">
            <a:avLst/>
          </a:prstGeom>
          <a:noFill/>
          <a:ln w="12700">
            <a:solidFill>
              <a:srgbClr val="C9A86A"/>
            </a:solidFill>
            <a:prstDash val="solid"/>
          </a:ln>
        </p:spPr>
      </p:sp>
      <p:sp>
        <p:nvSpPr>
          <p:cNvPr id="4" name="Text 2"/>
          <p:cNvSpPr/>
          <p:nvPr>
            <p:ph idx="102" type="title" hasCustomPrompt="1"/>
          </p:nvPr>
        </p:nvSpPr>
        <p:spPr>
          <a:xfrm>
            <a:off x="548640" y="2194560"/>
            <a:ext cx="777240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bg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Message de clôture</a:t>
            </a:r>
            <a:endParaRPr lang="en-US" sz="3000" dirty="0"/>
          </a:p>
        </p:txBody>
      </p:sp>
      <p:sp>
        <p:nvSpPr>
          <p:cNvPr id="5" name="Text 2"/>
          <p:cNvSpPr/>
          <p:nvPr>
            <p:ph idx="103" type="body" hasCustomPrompt="1"/>
          </p:nvPr>
        </p:nvSpPr>
        <p:spPr>
          <a:xfrm>
            <a:off x="548640" y="3794760"/>
            <a:ext cx="731520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200" dirty="0">
                <a:solidFill>
                  <a:srgbClr val="C8CFD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200" dirty="0">
                <a:solidFill>
                  <a:srgbClr val="C8CFD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Contact</a:t>
            </a:r>
            <a:endParaRPr lang="en-US" sz="12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5B6472"/>
                </a:solidFill>
                <a:latin typeface="Montserrat"/>
                <a:ea typeface="Montserrat"/>
                <a:cs typeface="Montserrat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3" type="title" hasCustomPrompt="1"/>
          </p:nvPr>
        </p:nvSpPr>
        <p:spPr>
          <a:xfrm>
            <a:off x="548640" y="2194560"/>
            <a:ext cx="69494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400" b="1" dirty="0">
                <a:solidFill>
                  <a:schemeClr val="bg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Halden : le back-office IA des promoteurs off-plan à Dubaï</a:t>
            </a:r>
            <a:endParaRPr lang="en-US" sz="3400" dirty="0"/>
          </a:p>
        </p:txBody>
      </p:sp>
      <p:sp>
        <p:nvSpPr>
          <p:cNvPr id="3" name="Text 2"/>
          <p:cNvSpPr/>
          <p:nvPr>
            <p:ph idx="104" type="body" hasCustomPrompt="1"/>
          </p:nvPr>
        </p:nvSpPr>
        <p:spPr>
          <a:xfrm>
            <a:off x="548640" y="4114800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C8CFD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Dossier startup · un agent, un pays, un jalon</a:t>
            </a:r>
            <a:endParaRPr lang="en-US" sz="1400" dirty="0"/>
          </a:p>
        </p:txBody>
      </p:sp>
      <p:sp>
        <p:nvSpPr>
          <p:cNvPr id="4" name="Text 2"/>
          <p:cNvSpPr/>
          <p:nvPr>
            <p:ph idx="102" type="body" hasCustomPrompt="1"/>
          </p:nvPr>
        </p:nvSpPr>
        <p:spPr>
          <a:xfrm>
            <a:off x="548640" y="182880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400" kern="0" dirty="0">
                <a:solidFill>
                  <a:srgbClr val="C9A86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DOCUMENT DE TRAVAIL · OCTOBRE 2026 · CONFIDENTIEL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640080"/>
            <a:ext cx="1109441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000" b="1" dirty="0">
                <a:solidFill>
                  <a:schemeClr val="tx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Halden prend en charge les encaissements des promoteurs off-plan de Dubaï ; nous cherchons un premier shadow run</a:t>
            </a:r>
            <a:endParaRPr lang="en-US" sz="2000" dirty="0"/>
          </a:p>
        </p:txBody>
      </p:sp>
      <p:sp>
        <p:nvSpPr>
          <p:cNvPr id="3" name="Text 1"/>
          <p:cNvSpPr/>
          <p:nvPr>
            <p:ph idx="101" type="body" hasCustomPrompt="1"/>
          </p:nvPr>
        </p:nvSpPr>
        <p:spPr>
          <a:xfrm>
            <a:off x="548640" y="347472"/>
            <a:ext cx="110944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8A6A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SYNTHÈSE</a:t>
            </a:r>
            <a:endParaRPr lang="en-US" sz="900" dirty="0"/>
          </a:p>
        </p:txBody>
      </p:sp>
      <p:sp>
        <p:nvSpPr>
          <p:cNvPr id="4" name="Text 1"/>
          <p:cNvSpPr/>
          <p:nvPr>
            <p:ph idx="103" type="body" hasCustomPrompt="1"/>
          </p:nvPr>
        </p:nvSpPr>
        <p:spPr>
          <a:xfrm>
            <a:off x="1828800" y="6400800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Sources : DXB Interact (données DLD), 2025 ; pages produit d'Akarati et RealSoft, consultées le 24 octobre 2026. Complication = notre hypothèse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630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A6A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ÉTAPE</a:t>
            </a:r>
            <a:endParaRPr lang="en-US" sz="900" dirty="0"/>
          </a:p>
        </p:txBody>
      </p:sp>
      <p:sp>
        <p:nvSpPr>
          <p:cNvPr id="6" name="Filet"/>
          <p:cNvSpPr/>
          <p:nvPr/>
        </p:nvSpPr>
        <p:spPr>
          <a:xfrm>
            <a:off x="548640" y="1810512"/>
            <a:ext cx="2377440" cy="0"/>
          </a:xfrm>
          <a:prstGeom prst="line">
            <a:avLst/>
          </a:prstGeom>
          <a:noFill/>
          <a:ln w="6350">
            <a:solidFill>
              <a:srgbClr val="0B142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108960" y="1463040"/>
            <a:ext cx="8534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A6A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CONSTAT</a:t>
            </a:r>
            <a:endParaRPr lang="en-US" sz="900" dirty="0"/>
          </a:p>
        </p:txBody>
      </p:sp>
      <p:sp>
        <p:nvSpPr>
          <p:cNvPr id="8" name="Filet"/>
          <p:cNvSpPr/>
          <p:nvPr/>
        </p:nvSpPr>
        <p:spPr>
          <a:xfrm>
            <a:off x="3108960" y="1810512"/>
            <a:ext cx="8534095" cy="0"/>
          </a:xfrm>
          <a:prstGeom prst="line">
            <a:avLst/>
          </a:prstGeom>
          <a:noFill/>
          <a:ln w="6350">
            <a:solidFill>
              <a:srgbClr val="0B142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196596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42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Situation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108960" y="1965960"/>
            <a:ext cx="85340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0B142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À Dubaï, environ deux tiers des AED 686,8 Md de ventes immobilières de 2025 sont off-plan. Chaque acheteur paie par tranches, à chaque jalon de chantier certifié, pendant environ 30 mois.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2916936"/>
            <a:ext cx="11094415" cy="0"/>
          </a:xfrm>
          <a:prstGeom prst="line">
            <a:avLst/>
          </a:prstGeom>
          <a:noFill/>
          <a:ln w="6350">
            <a:solidFill>
              <a:srgbClr val="D5D8D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48640" y="2990088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42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Complication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3108960" y="2990088"/>
            <a:ext cx="85340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0B142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Les ERP émiratis (Akarati, RealSoft) gèrent déjà échéanciers et relances. Notre hypothèse, à confirmer en entretiens : le travail qui reste à l'équipe est le rapprochement des virements mal référencés, les messages en arabe et en anglais et le dossier escrow.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3941064"/>
            <a:ext cx="11094415" cy="0"/>
          </a:xfrm>
          <a:prstGeom prst="line">
            <a:avLst/>
          </a:prstGeom>
          <a:noFill/>
          <a:ln w="6350">
            <a:solidFill>
              <a:srgbClr val="D5D8D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48640" y="4014216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A6A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Résolution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3108960" y="4014216"/>
            <a:ext cx="85340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0B142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Halden fait ce travail au-dessus de l'outil du promoteur. Pendant le pilote, chaque message vers un acheteur est validé par son équipe. L'IA ne signe rien et ne touche jamais à l'argent.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4965192"/>
            <a:ext cx="11094415" cy="0"/>
          </a:xfrm>
          <a:prstGeom prst="line">
            <a:avLst/>
          </a:prstGeom>
          <a:noFill/>
          <a:ln w="6350">
            <a:solidFill>
              <a:srgbClr val="D5D8D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48640" y="5212080"/>
            <a:ext cx="11094415" cy="868680"/>
          </a:xfrm>
          <a:prstGeom prst="rect">
            <a:avLst/>
          </a:prstGeom>
          <a:solidFill>
            <a:srgbClr val="0B1426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22960" y="521208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86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Notre demande :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un promoteur de Dubaï qui accepte un shadow run gratuit de quatre semaines sur son prochain jalon. Rien n'est envoyé à ses acheteurs.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5B6472"/>
                </a:solidFill>
                <a:latin typeface="Montserrat"/>
                <a:ea typeface="Montserrat"/>
                <a:cs typeface="Montserrat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640080"/>
            <a:ext cx="1109441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000" b="1" dirty="0">
                <a:solidFill>
                  <a:schemeClr val="tx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Notre hypothèse : après chaque jalon, quatre tâches liées au cash restent manuelles chez un promoteur de taille moyenne</a:t>
            </a:r>
            <a:endParaRPr lang="en-US" sz="2000" dirty="0"/>
          </a:p>
        </p:txBody>
      </p:sp>
      <p:sp>
        <p:nvSpPr>
          <p:cNvPr id="3" name="Text 1"/>
          <p:cNvSpPr/>
          <p:nvPr>
            <p:ph idx="101" type="body" hasCustomPrompt="1"/>
          </p:nvPr>
        </p:nvSpPr>
        <p:spPr>
          <a:xfrm>
            <a:off x="548640" y="347472"/>
            <a:ext cx="110944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8A6A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LE TRAVAIL APRÈS CHAQUE JALON CERTIFIÉ</a:t>
            </a:r>
            <a:endParaRPr lang="en-US" sz="900" dirty="0"/>
          </a:p>
        </p:txBody>
      </p:sp>
      <p:sp>
        <p:nvSpPr>
          <p:cNvPr id="4" name="Text 1"/>
          <p:cNvSpPr/>
          <p:nvPr>
            <p:ph idx="103" type="body" hasCustomPrompt="1"/>
          </p:nvPr>
        </p:nvSpPr>
        <p:spPr>
          <a:xfrm>
            <a:off x="1828800" y="6400800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Hypothèse Halden, à confirmer en entretiens avec des équipes finance (aucun promoteur interrogé à ce jour). Escrow : loi de Dubaï n° 8 de 2007</a:t>
            </a:r>
            <a:endParaRPr lang="en-US" sz="900" dirty="0"/>
          </a:p>
        </p:txBody>
      </p:sp>
      <p:sp>
        <p:nvSpPr>
          <p:cNvPr id="5" name="Sticker"/>
          <p:cNvSpPr/>
          <p:nvPr/>
        </p:nvSpPr>
        <p:spPr>
          <a:xfrm>
            <a:off x="10271455" y="347472"/>
            <a:ext cx="1371600" cy="237744"/>
          </a:xfrm>
          <a:prstGeom prst="rect">
            <a:avLst/>
          </a:prstGeom>
          <a:solidFill>
            <a:schemeClr val="bg1"/>
          </a:solidFill>
          <a:ln w="9525">
            <a:solidFill>
              <a:srgbClr val="C9A86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271455" y="34747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8A6A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HYPOTHÈSE</a:t>
            </a:r>
            <a:endParaRPr lang="en-US" sz="900" dirty="0"/>
          </a:p>
        </p:txBody>
      </p:sp>
      <p:sp>
        <p:nvSpPr>
          <p:cNvPr id="7" name="Icône"/>
          <p:cNvSpPr/>
          <p:nvPr/>
        </p:nvSpPr>
        <p:spPr>
          <a:xfrm>
            <a:off x="548640" y="1645920"/>
            <a:ext cx="548640" cy="548640"/>
          </a:xfrm>
          <a:prstGeom prst="rect">
            <a:avLst/>
          </a:prstGeom>
          <a:solidFill>
            <a:schemeClr val="bg2"/>
          </a:solidFill>
          <a:ln/>
        </p:spPr>
      </p:sp>
      <p:pic>
        <p:nvPicPr>
          <p:cNvPr id="8" name="Image 0" descr="FileTex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9341" y="1766621"/>
            <a:ext cx="307238" cy="307238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548640" y="23774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142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Appeler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48640" y="2834640"/>
            <a:ext cx="457200" cy="0"/>
          </a:xfrm>
          <a:prstGeom prst="line">
            <a:avLst/>
          </a:prstGeom>
          <a:noFill/>
          <a:ln w="9525">
            <a:solidFill>
              <a:srgbClr val="C9A86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48640" y="2971800"/>
            <a:ext cx="1645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0B142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Chaque échéance, selon le plan de paiement de l'acheteur, dès le jalon certifié.</a:t>
            </a:r>
            <a:endParaRPr lang="en-US" sz="1000" dirty="0"/>
          </a:p>
        </p:txBody>
      </p:sp>
      <p:sp>
        <p:nvSpPr>
          <p:cNvPr id="12" name="Icône"/>
          <p:cNvSpPr/>
          <p:nvPr/>
        </p:nvSpPr>
        <p:spPr>
          <a:xfrm>
            <a:off x="2468880" y="1645920"/>
            <a:ext cx="548640" cy="548640"/>
          </a:xfrm>
          <a:prstGeom prst="rect">
            <a:avLst/>
          </a:prstGeom>
          <a:solidFill>
            <a:schemeClr val="bg2"/>
          </a:solidFill>
          <a:ln/>
        </p:spPr>
      </p:sp>
      <p:pic>
        <p:nvPicPr>
          <p:cNvPr id="13" name="Image 1" descr="Repea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9581" y="176662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2468880" y="23774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142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Rapprocher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2468880" y="2834640"/>
            <a:ext cx="457200" cy="0"/>
          </a:xfrm>
          <a:prstGeom prst="line">
            <a:avLst/>
          </a:prstGeom>
          <a:noFill/>
          <a:ln w="9525">
            <a:solidFill>
              <a:srgbClr val="C9A86A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2468880" y="2971800"/>
            <a:ext cx="1645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0B142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Chaque virement avec le bon acheteur, souvent sans référence ou avec celle d'un autre.</a:t>
            </a:r>
            <a:endParaRPr lang="en-US" sz="1000" dirty="0"/>
          </a:p>
        </p:txBody>
      </p:sp>
      <p:sp>
        <p:nvSpPr>
          <p:cNvPr id="17" name="Icône"/>
          <p:cNvSpPr/>
          <p:nvPr/>
        </p:nvSpPr>
        <p:spPr>
          <a:xfrm>
            <a:off x="4389120" y="1645920"/>
            <a:ext cx="548640" cy="548640"/>
          </a:xfrm>
          <a:prstGeom prst="rect">
            <a:avLst/>
          </a:prstGeom>
          <a:solidFill>
            <a:schemeClr val="bg2"/>
          </a:solidFill>
          <a:ln/>
        </p:spPr>
      </p:sp>
      <p:pic>
        <p:nvPicPr>
          <p:cNvPr id="18" name="Image 2" descr="Bell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9821" y="176662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4389120" y="23774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142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Relancer</a:t>
            </a:r>
            <a:endParaRPr lang="en-US" sz="1400" dirty="0"/>
          </a:p>
        </p:txBody>
      </p:sp>
      <p:sp>
        <p:nvSpPr>
          <p:cNvPr id="20" name="Shape 15"/>
          <p:cNvSpPr/>
          <p:nvPr/>
        </p:nvSpPr>
        <p:spPr>
          <a:xfrm>
            <a:off x="4389120" y="2834640"/>
            <a:ext cx="457200" cy="0"/>
          </a:xfrm>
          <a:prstGeom prst="line">
            <a:avLst/>
          </a:prstGeom>
          <a:noFill/>
          <a:ln w="9525">
            <a:solidFill>
              <a:srgbClr val="C9A86A"/>
            </a:solidFill>
            <a:prstDash val="solid"/>
          </a:ln>
        </p:spPr>
      </p:sp>
      <p:sp>
        <p:nvSpPr>
          <p:cNvPr id="21" name="Text 16"/>
          <p:cNvSpPr txBox="1"/>
          <p:nvPr/>
        </p:nvSpPr>
        <p:spPr>
          <a:xfrm>
            <a:off x="4389120" y="2971800"/>
            <a:ext cx="1645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0B142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Les retards, en arabe ou en anglais, sans abîmer la relation.</a:t>
            </a:r>
            <a:endParaRPr lang="en-US" sz="1000" dirty="0"/>
          </a:p>
        </p:txBody>
      </p:sp>
      <p:sp>
        <p:nvSpPr>
          <p:cNvPr id="22" name="Icône"/>
          <p:cNvSpPr/>
          <p:nvPr/>
        </p:nvSpPr>
        <p:spPr>
          <a:xfrm>
            <a:off x="6309360" y="1645920"/>
            <a:ext cx="548640" cy="548640"/>
          </a:xfrm>
          <a:prstGeom prst="rect">
            <a:avLst/>
          </a:prstGeom>
          <a:solidFill>
            <a:schemeClr val="bg2"/>
          </a:solidFill>
          <a:ln/>
        </p:spPr>
      </p:sp>
      <p:pic>
        <p:nvPicPr>
          <p:cNvPr id="23" name="Image 3" descr="Archiv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30061" y="1766621"/>
            <a:ext cx="307238" cy="307238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6309360" y="23774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142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Documenter</a:t>
            </a:r>
            <a:endParaRPr lang="en-US" sz="1400" dirty="0"/>
          </a:p>
        </p:txBody>
      </p:sp>
      <p:sp>
        <p:nvSpPr>
          <p:cNvPr id="25" name="Shape 19"/>
          <p:cNvSpPr/>
          <p:nvPr/>
        </p:nvSpPr>
        <p:spPr>
          <a:xfrm>
            <a:off x="6309360" y="2834640"/>
            <a:ext cx="457200" cy="0"/>
          </a:xfrm>
          <a:prstGeom prst="line">
            <a:avLst/>
          </a:prstGeom>
          <a:noFill/>
          <a:ln w="9525">
            <a:solidFill>
              <a:srgbClr val="C9A86A"/>
            </a:solidFill>
            <a:prstDash val="solid"/>
          </a:ln>
        </p:spPr>
      </p:sp>
      <p:sp>
        <p:nvSpPr>
          <p:cNvPr id="26" name="Text 20"/>
          <p:cNvSpPr txBox="1"/>
          <p:nvPr/>
        </p:nvSpPr>
        <p:spPr>
          <a:xfrm>
            <a:off x="6309360" y="2971800"/>
            <a:ext cx="1645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0B142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Un dossier propre pour le compte escrow, l'auditeur et les litiges.</a:t>
            </a:r>
            <a:endParaRPr lang="en-US" sz="1000" dirty="0"/>
          </a:p>
        </p:txBody>
      </p:sp>
      <p:sp>
        <p:nvSpPr>
          <p:cNvPr id="27" name="Cadre"/>
          <p:cNvSpPr/>
          <p:nvPr/>
        </p:nvSpPr>
        <p:spPr>
          <a:xfrm>
            <a:off x="548640" y="4343400"/>
            <a:ext cx="7498080" cy="1737360"/>
          </a:xfrm>
          <a:prstGeom prst="rect">
            <a:avLst/>
          </a:prstGeom>
          <a:solidFill>
            <a:schemeClr val="bg1"/>
          </a:solidFill>
          <a:ln w="9525">
            <a:solidFill>
              <a:srgbClr val="D5D8DE"/>
            </a:solidFill>
            <a:prstDash val="solid"/>
          </a:ln>
        </p:spPr>
      </p:sp>
      <p:sp>
        <p:nvSpPr>
          <p:cNvPr id="28" name="Text 22"/>
          <p:cNvSpPr txBox="1"/>
          <p:nvPr/>
        </p:nvSpPr>
        <p:spPr>
          <a:xfrm>
            <a:off x="777240" y="4480560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A6A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QUI NOUS DÉCRIVONS</a:t>
            </a:r>
            <a:endParaRPr lang="en-US" sz="900" dirty="0"/>
          </a:p>
        </p:txBody>
      </p:sp>
      <p:sp>
        <p:nvSpPr>
          <p:cNvPr id="29" name="Text 23"/>
          <p:cNvSpPr txBox="1"/>
          <p:nvPr/>
        </p:nvSpPr>
        <p:spPr>
          <a:xfrm>
            <a:off x="777240" y="4800600"/>
            <a:ext cx="7040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0B142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Un promoteur avec un à trois projets en cours. Les grands promoteurs ont un ERP ; nous ne savons pas encore comment travaillent les autres. Après chaque entretien, chaque tâche passe de « supposé » à « entendu ».</a:t>
            </a:r>
            <a:endParaRPr lang="en-US" sz="1050" dirty="0"/>
          </a:p>
        </p:txBody>
      </p:sp>
      <p:sp>
        <p:nvSpPr>
          <p:cNvPr id="30" name="Shape 24"/>
          <p:cNvSpPr/>
          <p:nvPr/>
        </p:nvSpPr>
        <p:spPr>
          <a:xfrm>
            <a:off x="8412480" y="1645920"/>
            <a:ext cx="3230575" cy="4434840"/>
          </a:xfrm>
          <a:prstGeom prst="rect">
            <a:avLst/>
          </a:prstGeom>
          <a:solidFill>
            <a:srgbClr val="0B1426"/>
          </a:solidFill>
          <a:ln/>
        </p:spPr>
      </p:sp>
      <p:sp>
        <p:nvSpPr>
          <p:cNvPr id="31" name="Text 25"/>
          <p:cNvSpPr txBox="1"/>
          <p:nvPr/>
        </p:nvSpPr>
        <p:spPr>
          <a:xfrm>
            <a:off x="8686800" y="1874520"/>
            <a:ext cx="26819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C9A86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CE QUE GAGNE LE DIRECTEUR FINANCIER</a:t>
            </a:r>
            <a:endParaRPr lang="en-US" sz="900" dirty="0"/>
          </a:p>
        </p:txBody>
      </p:sp>
      <p:sp>
        <p:nvSpPr>
          <p:cNvPr id="32" name="Text 26"/>
          <p:cNvSpPr txBox="1"/>
          <p:nvPr/>
        </p:nvSpPr>
        <p:spPr>
          <a:xfrm>
            <a:off x="8686800" y="2377440"/>
            <a:ext cx="26819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Pas du cash plus tôt : l'escrow ne libère les fonds qu'au rythme de l'avancement certifié.</a:t>
            </a:r>
            <a:endParaRPr lang="en-US" sz="1200" dirty="0"/>
          </a:p>
        </p:txBody>
      </p:sp>
      <p:sp>
        <p:nvSpPr>
          <p:cNvPr id="33" name="Shape 27"/>
          <p:cNvSpPr/>
          <p:nvPr/>
        </p:nvSpPr>
        <p:spPr>
          <a:xfrm>
            <a:off x="8686800" y="3429000"/>
            <a:ext cx="548640" cy="0"/>
          </a:xfrm>
          <a:prstGeom prst="line">
            <a:avLst/>
          </a:prstGeom>
          <a:noFill/>
          <a:ln w="9525">
            <a:solidFill>
              <a:srgbClr val="C9A86A"/>
            </a:solidFill>
            <a:prstDash val="solid"/>
          </a:ln>
        </p:spPr>
      </p:sp>
      <p:sp>
        <p:nvSpPr>
          <p:cNvPr id="34" name="Text 28"/>
          <p:cNvSpPr txBox="1"/>
          <p:nvPr/>
        </p:nvSpPr>
        <p:spPr>
          <a:xfrm>
            <a:off x="8686800" y="3611880"/>
            <a:ext cx="2681935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800"/>
              </a:spcAft>
              <a:buSzPct val="100000"/>
              <a:buChar char="—"/>
            </a:pPr>
            <a:r>
              <a:rPr lang="en-US" sz="1100" dirty="0">
                <a:solidFill>
                  <a:srgbClr val="C8CFD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Moins de retards de paiement</a:t>
            </a:r>
            <a:endParaRPr lang="en-US" sz="1100" dirty="0"/>
          </a:p>
          <a:p>
            <a:pPr marL="152400" indent="-152400">
              <a:spcAft>
                <a:spcPts val="800"/>
              </a:spcAft>
              <a:buSzPct val="100000"/>
              <a:buChar char="—"/>
            </a:pPr>
            <a:r>
              <a:rPr lang="en-US" sz="1100" dirty="0">
                <a:solidFill>
                  <a:srgbClr val="C8CFD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Moins de temps d'équipe par jalon</a:t>
            </a:r>
            <a:endParaRPr lang="en-US" sz="1100" dirty="0"/>
          </a:p>
          <a:p>
            <a:pPr marL="152400" indent="-152400">
              <a:spcAft>
                <a:spcPts val="800"/>
              </a:spcAft>
              <a:buSzPct val="100000"/>
              <a:buChar char="—"/>
            </a:pPr>
            <a:r>
              <a:rPr lang="en-US" sz="1100" dirty="0">
                <a:solidFill>
                  <a:srgbClr val="C8CFD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Un dossier escrow prêt pour l'audit à chaque demande de libération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5B6472"/>
                </a:solidFill>
                <a:latin typeface="Montserrat"/>
                <a:ea typeface="Montserrat"/>
                <a:cs typeface="Montserrat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640080"/>
            <a:ext cx="1109441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000" b="1" dirty="0">
                <a:solidFill>
                  <a:schemeClr val="tx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Le marché off-plan reste massif mais ralentit en 2026 : chaque retard de paiement pèse davantage</a:t>
            </a:r>
            <a:endParaRPr lang="en-US" sz="2000" dirty="0"/>
          </a:p>
        </p:txBody>
      </p:sp>
      <p:sp>
        <p:nvSpPr>
          <p:cNvPr id="3" name="Text 1"/>
          <p:cNvSpPr/>
          <p:nvPr>
            <p:ph idx="101" type="body" hasCustomPrompt="1"/>
          </p:nvPr>
        </p:nvSpPr>
        <p:spPr>
          <a:xfrm>
            <a:off x="548640" y="347472"/>
            <a:ext cx="110944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8A6A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MARCHÉ OFF-PLAN DE DUBAÏ</a:t>
            </a:r>
            <a:endParaRPr lang="en-US" sz="900" dirty="0"/>
          </a:p>
        </p:txBody>
      </p:sp>
      <p:sp>
        <p:nvSpPr>
          <p:cNvPr id="4" name="Text 1"/>
          <p:cNvSpPr/>
          <p:nvPr>
            <p:ph idx="103" type="body" hasCustomPrompt="1"/>
          </p:nvPr>
        </p:nvSpPr>
        <p:spPr>
          <a:xfrm>
            <a:off x="1828800" y="6400800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Sources : DXB Interact (DLD), 2025 ; Cavendish Maxwell via The National, T3 2026 ; TradeArabia, 2025 ; Gulf News, 2026. Lecture : la nôtre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2072579" cy="2240280"/>
          </a:xfrm>
          <a:prstGeom prst="rect">
            <a:avLst/>
          </a:prstGeom>
          <a:solidFill>
            <a:srgbClr val="F4F5F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1783080"/>
            <a:ext cx="170681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800" b="1" dirty="0">
                <a:solidFill>
                  <a:srgbClr val="0B142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686,8 Md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731520" y="2743200"/>
            <a:ext cx="457200" cy="0"/>
          </a:xfrm>
          <a:prstGeom prst="line">
            <a:avLst/>
          </a:prstGeom>
          <a:noFill/>
          <a:ln w="9525">
            <a:solidFill>
              <a:srgbClr val="8A6A3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2880360"/>
            <a:ext cx="170681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B142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AED de ventes immobilières à Dubaï en 2025, dont environ deux tiers off-plan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804099" y="1645920"/>
            <a:ext cx="2072579" cy="2240280"/>
          </a:xfrm>
          <a:prstGeom prst="rect">
            <a:avLst/>
          </a:prstGeom>
          <a:solidFill>
            <a:srgbClr val="F4F5F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2986979" y="1783080"/>
            <a:ext cx="170681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800" b="1" dirty="0">
                <a:solidFill>
                  <a:srgbClr val="0B142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72 %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2986979" y="2743200"/>
            <a:ext cx="457200" cy="0"/>
          </a:xfrm>
          <a:prstGeom prst="line">
            <a:avLst/>
          </a:prstGeom>
          <a:noFill/>
          <a:ln w="9525">
            <a:solidFill>
              <a:srgbClr val="8A6A3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986979" y="2880360"/>
            <a:ext cx="170681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B142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part de l'off-plan dans les achats à Dubaï au T3 2026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059558" y="1645920"/>
            <a:ext cx="2072579" cy="2240280"/>
          </a:xfrm>
          <a:prstGeom prst="rect">
            <a:avLst/>
          </a:prstGeom>
          <a:solidFill>
            <a:srgbClr val="0B1426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242438" y="1783080"/>
            <a:ext cx="170681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800" b="1" dirty="0">
                <a:solidFill>
                  <a:srgbClr val="C9A86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−38 %</a:t>
            </a:r>
            <a:endParaRPr lang="en-US" sz="2800" dirty="0"/>
          </a:p>
        </p:txBody>
      </p:sp>
      <p:sp>
        <p:nvSpPr>
          <p:cNvPr id="15" name="Shape 13"/>
          <p:cNvSpPr/>
          <p:nvPr/>
        </p:nvSpPr>
        <p:spPr>
          <a:xfrm>
            <a:off x="5242438" y="2743200"/>
            <a:ext cx="457200" cy="0"/>
          </a:xfrm>
          <a:prstGeom prst="line">
            <a:avLst/>
          </a:prstGeom>
          <a:noFill/>
          <a:ln w="9525">
            <a:solidFill>
              <a:srgbClr val="C9A86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242438" y="2880360"/>
            <a:ext cx="170681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8CFD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volume résidentiel vendu au T3 2026, sur un an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315017" y="1645920"/>
            <a:ext cx="2072579" cy="2240280"/>
          </a:xfrm>
          <a:prstGeom prst="rect">
            <a:avLst/>
          </a:prstGeom>
          <a:solidFill>
            <a:srgbClr val="F4F5F7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497897" y="1783080"/>
            <a:ext cx="170681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800" b="1" dirty="0">
                <a:solidFill>
                  <a:srgbClr val="0B142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937</a:t>
            </a:r>
            <a:endParaRPr lang="en-US" sz="2800" dirty="0"/>
          </a:p>
        </p:txBody>
      </p:sp>
      <p:sp>
        <p:nvSpPr>
          <p:cNvPr id="19" name="Shape 17"/>
          <p:cNvSpPr/>
          <p:nvPr/>
        </p:nvSpPr>
        <p:spPr>
          <a:xfrm>
            <a:off x="7497897" y="2743200"/>
            <a:ext cx="457200" cy="0"/>
          </a:xfrm>
          <a:prstGeom prst="line">
            <a:avLst/>
          </a:prstGeom>
          <a:noFill/>
          <a:ln w="9525">
            <a:solidFill>
              <a:srgbClr val="8A6A3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497897" y="2880360"/>
            <a:ext cx="170681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B142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projets en construction à Dubaï en 2025 (+25 %)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9570476" y="1645920"/>
            <a:ext cx="2072579" cy="2240280"/>
          </a:xfrm>
          <a:prstGeom prst="rect">
            <a:avLst/>
          </a:prstGeom>
          <a:solidFill>
            <a:srgbClr val="F4F5F7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9753356" y="1783080"/>
            <a:ext cx="170681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800" b="1" dirty="0">
                <a:solidFill>
                  <a:srgbClr val="0B142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186</a:t>
            </a:r>
            <a:endParaRPr lang="en-US" sz="2800" dirty="0"/>
          </a:p>
        </p:txBody>
      </p:sp>
      <p:sp>
        <p:nvSpPr>
          <p:cNvPr id="23" name="Shape 21"/>
          <p:cNvSpPr/>
          <p:nvPr/>
        </p:nvSpPr>
        <p:spPr>
          <a:xfrm>
            <a:off x="9753356" y="2743200"/>
            <a:ext cx="457200" cy="0"/>
          </a:xfrm>
          <a:prstGeom prst="line">
            <a:avLst/>
          </a:prstGeom>
          <a:noFill/>
          <a:ln w="9525">
            <a:solidFill>
              <a:srgbClr val="8A6A3A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9753356" y="2880360"/>
            <a:ext cx="170681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B142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nouveaux promoteurs sur les sept premiers mois de 2026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548640" y="40690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A6A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NOTRE LECTURE</a:t>
            </a:r>
            <a:endParaRPr lang="en-US" sz="900" dirty="0"/>
          </a:p>
        </p:txBody>
      </p:sp>
      <p:sp>
        <p:nvSpPr>
          <p:cNvPr id="26" name="Filet"/>
          <p:cNvSpPr/>
          <p:nvPr/>
        </p:nvSpPr>
        <p:spPr>
          <a:xfrm>
            <a:off x="548640" y="4416552"/>
            <a:ext cx="11094415" cy="0"/>
          </a:xfrm>
          <a:prstGeom prst="line">
            <a:avLst/>
          </a:prstGeom>
          <a:noFill/>
          <a:ln w="6350">
            <a:solidFill>
              <a:srgbClr val="0B1426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548640" y="4572000"/>
            <a:ext cx="351525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B142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Le volume baisse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548640" y="4937760"/>
            <a:ext cx="342381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0B142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Après le pic de 2025, moins d'unités se vendent. Les acheteurs déjà engagés continuent de payer leurs tranches jusqu'à la livraison.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4338218" y="4572000"/>
            <a:ext cx="351525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B142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Les retards montent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4338218" y="4937760"/>
            <a:ext cx="342381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0B142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Un acheteur qui a acheté au plus haut paie dans un marché plus mou : nous attendons plus de retards et plus de demandes d'étalement.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8127797" y="4572000"/>
            <a:ext cx="351525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8A6A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Ce que cela change pour nous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8127797" y="4937760"/>
            <a:ext cx="342381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0B142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Le suivi des encaissements devient plus important, pas moins. Nous ciblons les promoteurs qui ont déjà un deuxième projet licencié.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5B6472"/>
                </a:solidFill>
                <a:latin typeface="Montserrat"/>
                <a:ea typeface="Montserrat"/>
                <a:cs typeface="Montserrat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640080"/>
            <a:ext cx="1109441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000" b="1" dirty="0">
                <a:solidFill>
                  <a:schemeClr val="tx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Des ERP émiratis gèrent déjà échéanciers et relances ; Halden fait le travail que l'ERP laisse à l'équipe</a:t>
            </a:r>
            <a:endParaRPr lang="en-US" sz="2000" dirty="0"/>
          </a:p>
        </p:txBody>
      </p:sp>
      <p:sp>
        <p:nvSpPr>
          <p:cNvPr id="3" name="Text 1"/>
          <p:cNvSpPr/>
          <p:nvPr>
            <p:ph idx="101" type="body" hasCustomPrompt="1"/>
          </p:nvPr>
        </p:nvSpPr>
        <p:spPr>
          <a:xfrm>
            <a:off x="548640" y="347472"/>
            <a:ext cx="110944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8A6A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POSITIONNEMENT CONCURRENTIEL AUX ÉMIRATS</a:t>
            </a:r>
            <a:endParaRPr lang="en-US" sz="900" dirty="0"/>
          </a:p>
        </p:txBody>
      </p:sp>
      <p:sp>
        <p:nvSpPr>
          <p:cNvPr id="4" name="Text 1"/>
          <p:cNvSpPr/>
          <p:nvPr>
            <p:ph idx="103" type="body" hasCustomPrompt="1"/>
          </p:nvPr>
        </p:nvSpPr>
        <p:spPr>
          <a:xfrm>
            <a:off x="1828800" y="6400800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Sources : pages produit d'Akarati, RealSoft (Coral), In4Suite et RealCube, consultées le 24 octobre 2026 (citations de leurs propres pages). Réponses Halden : à tester</a:t>
            </a:r>
            <a:endParaRPr lang="en-US" sz="900" dirty="0"/>
          </a:p>
        </p:txBody>
      </p:sp>
      <p:sp>
        <p:nvSpPr>
          <p:cNvPr id="5" name="Sticker"/>
          <p:cNvSpPr/>
          <p:nvPr/>
        </p:nvSpPr>
        <p:spPr>
          <a:xfrm>
            <a:off x="10271455" y="347472"/>
            <a:ext cx="1371600" cy="237744"/>
          </a:xfrm>
          <a:prstGeom prst="rect">
            <a:avLst/>
          </a:prstGeom>
          <a:solidFill>
            <a:schemeClr val="bg1"/>
          </a:solidFill>
          <a:ln w="9525">
            <a:solidFill>
              <a:srgbClr val="C9A86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271455" y="34747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8A6A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À TESTER</a:t>
            </a:r>
            <a:endParaRPr lang="en-US" sz="9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94415" cy="914400"/>
        </p:xfrm>
        <a:graphic>
          <a:graphicData uri="http://schemas.openxmlformats.org/drawingml/2006/table">
            <a:tbl>
              <a:tblPr/>
              <a:tblGrid>
                <a:gridCol w="1742098"/>
                <a:gridCol w="4859537"/>
                <a:gridCol w="449278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Acteur</a:t>
                      </a: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36576" marB="36576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4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Ce qu'il dit faire, sur sa propre page</a:t>
                      </a: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36576" marB="36576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4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Ce qui reste à faire, selon nous</a:t>
                      </a: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36576" marB="36576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A6A3A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B1426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Akarati</a:t>
                      </a: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36576" marB="36576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1426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« Installments, reminders, dunning, and escrow posting » ; comptes escrow rapprochés ; revendique plus de AED 20 Md de stock géré</a:t>
                      </a: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36576" marB="36576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1426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Rapprocher un virement sans référence ou avec celle d'un autre acheteur ; décider quoi dire à un acheteur qui répond</a:t>
                      </a: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36576" marB="36576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B1426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RealSoft (Coral)</a:t>
                      </a: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36576" marB="36576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1426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« Automated invoicing and reminders happen automatically » ; encaissements suivis en temps réel</a:t>
                      </a: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36576" marB="36576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1426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Relances qui s'arrêtent quand l'acheteur dit « j'ai payé » ou parle d'avocat</a:t>
                      </a: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36576" marB="36576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B1426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In4Suite</a:t>
                      </a: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36576" marB="36576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1426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ERP immobilier : « RERA, Ejari &amp; VAT compliance with AI + BI dashboards »</a:t>
                      </a: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36576" marB="36576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1426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L'IA est déjà dans leur discours : notre différence doit se voir sur un vrai relevé</a:t>
                      </a: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36576" marB="36576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B1426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RealCube</a:t>
                      </a: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36576" marB="36576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1426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ERP avec plans de paiement</a:t>
                      </a: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36576" marB="36576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1426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Le travail entre l'ERP, la banque et l'acheteur</a:t>
                      </a: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36576" marB="36576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 txBox="1"/>
          <p:nvPr/>
        </p:nvSpPr>
        <p:spPr>
          <a:xfrm>
            <a:off x="548640" y="434340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A6A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POURQUOI UN PROMOTEUR ÉQUIPÉ AJOUTERAIT HALDEN : TROIS RÉPONSES À TESTER</a:t>
            </a:r>
            <a:endParaRPr lang="en-US" sz="900" dirty="0"/>
          </a:p>
        </p:txBody>
      </p:sp>
      <p:sp>
        <p:nvSpPr>
          <p:cNvPr id="9" name="Filet"/>
          <p:cNvSpPr/>
          <p:nvPr/>
        </p:nvSpPr>
        <p:spPr>
          <a:xfrm>
            <a:off x="548640" y="4690872"/>
            <a:ext cx="11094415" cy="0"/>
          </a:xfrm>
          <a:prstGeom prst="line">
            <a:avLst/>
          </a:prstGeom>
          <a:noFill/>
          <a:ln w="6350">
            <a:solidFill>
              <a:srgbClr val="0B1426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48640" y="4846320"/>
            <a:ext cx="351525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B142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Nous faisons le travail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5212080"/>
            <a:ext cx="342381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B142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Rapprocher, rédiger en arabe et en anglais, préparer l'escalade. L'ERP stocke et envoie.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4338218" y="4846320"/>
            <a:ext cx="351525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B142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Au-dessus de tout ERP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4338218" y="5212080"/>
            <a:ext cx="342381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B142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Halden lit les exports de l'ERP et les relevés de la banque ; il ne remplace rien.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8127797" y="4846320"/>
            <a:ext cx="351525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B142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Pour les plus petits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8127797" y="5212080"/>
            <a:ext cx="342381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B142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Les nouveaux promoteurs, trop petits pour un projet ERP, démarrent sur Halden et leur tableur.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5B6472"/>
                </a:solidFill>
                <a:latin typeface="Montserrat"/>
                <a:ea typeface="Montserrat"/>
                <a:cs typeface="Montserrat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640080"/>
            <a:ext cx="1109441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000" b="1" dirty="0">
                <a:solidFill>
                  <a:schemeClr val="bg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L'IA prépare ; l'équipe du promoteur valide chaque message vers un acheteur et décide de chaque exception</a:t>
            </a:r>
            <a:endParaRPr lang="en-US" sz="2000" dirty="0"/>
          </a:p>
        </p:txBody>
      </p:sp>
      <p:sp>
        <p:nvSpPr>
          <p:cNvPr id="3" name="Text 1"/>
          <p:cNvSpPr/>
          <p:nvPr>
            <p:ph idx="101" type="body" hasCustomPrompt="1"/>
          </p:nvPr>
        </p:nvSpPr>
        <p:spPr>
          <a:xfrm>
            <a:off x="548640" y="347472"/>
            <a:ext cx="110944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C9A86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 RÈGLE HALDEN PENDANT LE PILOTE</a:t>
            </a:r>
            <a:endParaRPr lang="en-US" sz="900" dirty="0"/>
          </a:p>
        </p:txBody>
      </p:sp>
      <p:sp>
        <p:nvSpPr>
          <p:cNvPr id="4" name="Text 1"/>
          <p:cNvSpPr/>
          <p:nvPr>
            <p:ph idx="103" type="body" hasCustomPrompt="1"/>
          </p:nvPr>
        </p:nvSpPr>
        <p:spPr>
          <a:xfrm>
            <a:off x="1828800" y="6400800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C96A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Source : règle appliquée dans le code du POC Halden v0.2 et vérifiée par ses tests. Enregistrement Oqood : Dubai Land Department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64592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9A86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057400"/>
            <a:ext cx="351525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Préparer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48640" y="2788920"/>
            <a:ext cx="548640" cy="0"/>
          </a:xfrm>
          <a:prstGeom prst="line">
            <a:avLst/>
          </a:prstGeom>
          <a:noFill/>
          <a:ln w="9525">
            <a:solidFill>
              <a:srgbClr val="C9A86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2926080"/>
            <a:ext cx="333237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8CFD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L'IA calcule les appels, rapproche les virements, rédige chaque message dans la langue de l'acheteur.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4338218" y="164592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9A86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4338218" y="2057400"/>
            <a:ext cx="351525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Valider</a:t>
            </a:r>
            <a:endParaRPr lang="en-US" sz="3000" dirty="0"/>
          </a:p>
        </p:txBody>
      </p:sp>
      <p:sp>
        <p:nvSpPr>
          <p:cNvPr id="11" name="Shape 9"/>
          <p:cNvSpPr/>
          <p:nvPr/>
        </p:nvSpPr>
        <p:spPr>
          <a:xfrm>
            <a:off x="4338218" y="2788920"/>
            <a:ext cx="548640" cy="0"/>
          </a:xfrm>
          <a:prstGeom prst="line">
            <a:avLst/>
          </a:prstGeom>
          <a:noFill/>
          <a:ln w="9525">
            <a:solidFill>
              <a:srgbClr val="C9A86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338218" y="2926080"/>
            <a:ext cx="333237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8CFD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Chaque message vers un acheteur et chaque rapprochement incertain attendent l'accord d'une personne nommée.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8127797" y="164592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9A86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8127797" y="2057400"/>
            <a:ext cx="351525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Décider</a:t>
            </a:r>
            <a:endParaRPr lang="en-US" sz="3000" dirty="0"/>
          </a:p>
        </p:txBody>
      </p:sp>
      <p:sp>
        <p:nvSpPr>
          <p:cNvPr id="15" name="Shape 13"/>
          <p:cNvSpPr/>
          <p:nvPr/>
        </p:nvSpPr>
        <p:spPr>
          <a:xfrm>
            <a:off x="8127797" y="2788920"/>
            <a:ext cx="548640" cy="0"/>
          </a:xfrm>
          <a:prstGeom prst="line">
            <a:avLst/>
          </a:prstGeom>
          <a:noFill/>
          <a:ln w="9525">
            <a:solidFill>
              <a:srgbClr val="C9A86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127797" y="2926080"/>
            <a:ext cx="333237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8CFD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Défaut de paiement, plan en difficulté, montant contesté : toujours un humain, avec le dossier préparé.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4069080"/>
            <a:ext cx="11094415" cy="0"/>
          </a:xfrm>
          <a:prstGeom prst="line">
            <a:avLst/>
          </a:prstGeom>
          <a:noFill/>
          <a:ln w="6350">
            <a:solidFill>
              <a:srgbClr val="C9A86A">
                <a:alpha val="40000"/>
              </a:srgbClr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48640" y="420624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50" kern="0" dirty="0">
                <a:solidFill>
                  <a:srgbClr val="C9A86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CE QUI ARRÊTE TOUT CONTACT AUTOMATIQUE AVEC UN ACHETEUR</a:t>
            </a:r>
            <a:endParaRPr lang="en-US" sz="900" dirty="0"/>
          </a:p>
        </p:txBody>
      </p:sp>
      <p:pic>
        <p:nvPicPr>
          <p:cNvPr id="19" name="Image 0" descr="CheckCircl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4709160"/>
            <a:ext cx="365760" cy="365760"/>
          </a:xfrm>
          <a:prstGeom prst="rect">
            <a:avLst/>
          </a:prstGeom>
        </p:spPr>
      </p:pic>
      <p:sp>
        <p:nvSpPr>
          <p:cNvPr id="20" name="Text 17"/>
          <p:cNvSpPr txBox="1"/>
          <p:nvPr/>
        </p:nvSpPr>
        <p:spPr>
          <a:xfrm>
            <a:off x="1143000" y="4617720"/>
            <a:ext cx="20420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« J'ai payé »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1143000" y="4956048"/>
            <a:ext cx="19963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8CFD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 anglais, arabe ou français</a:t>
            </a:r>
            <a:endParaRPr lang="en-US" sz="1000" dirty="0"/>
          </a:p>
        </p:txBody>
      </p:sp>
      <p:pic>
        <p:nvPicPr>
          <p:cNvPr id="22" name="Image 1" descr="Briefcas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3684" y="4709160"/>
            <a:ext cx="365760" cy="365760"/>
          </a:xfrm>
          <a:prstGeom prst="rect">
            <a:avLst/>
          </a:prstGeom>
        </p:spPr>
      </p:pic>
      <p:sp>
        <p:nvSpPr>
          <p:cNvPr id="23" name="Text 19"/>
          <p:cNvSpPr txBox="1"/>
          <p:nvPr/>
        </p:nvSpPr>
        <p:spPr>
          <a:xfrm>
            <a:off x="3962324" y="4617720"/>
            <a:ext cx="20420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Avocat, réclamation</a:t>
            </a:r>
            <a:endParaRPr lang="en-US" sz="1200" dirty="0"/>
          </a:p>
        </p:txBody>
      </p:sp>
      <p:sp>
        <p:nvSpPr>
          <p:cNvPr id="24" name="Text 20"/>
          <p:cNvSpPr txBox="1"/>
          <p:nvPr/>
        </p:nvSpPr>
        <p:spPr>
          <a:xfrm>
            <a:off x="3962324" y="4956048"/>
            <a:ext cx="19963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8CFD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ou difficulté de paiement</a:t>
            </a:r>
            <a:endParaRPr lang="en-US" sz="1000" dirty="0"/>
          </a:p>
        </p:txBody>
      </p:sp>
      <p:pic>
        <p:nvPicPr>
          <p:cNvPr id="25" name="Image 2" descr="Clock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3008" y="4709160"/>
            <a:ext cx="365760" cy="365760"/>
          </a:xfrm>
          <a:prstGeom prst="rect">
            <a:avLst/>
          </a:prstGeom>
        </p:spPr>
      </p:pic>
      <p:sp>
        <p:nvSpPr>
          <p:cNvPr id="26" name="Text 21"/>
          <p:cNvSpPr txBox="1"/>
          <p:nvPr/>
        </p:nvSpPr>
        <p:spPr>
          <a:xfrm>
            <a:off x="6781648" y="4617720"/>
            <a:ext cx="20420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Un paiement en attente</a:t>
            </a:r>
            <a:endParaRPr lang="en-US" sz="1200" dirty="0"/>
          </a:p>
        </p:txBody>
      </p:sp>
      <p:sp>
        <p:nvSpPr>
          <p:cNvPr id="27" name="Text 22"/>
          <p:cNvSpPr txBox="1"/>
          <p:nvPr/>
        </p:nvSpPr>
        <p:spPr>
          <a:xfrm>
            <a:off x="6781648" y="4956048"/>
            <a:ext cx="19963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8CFD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ou un virement non identifié</a:t>
            </a:r>
            <a:endParaRPr lang="en-US" sz="1000" dirty="0"/>
          </a:p>
        </p:txBody>
      </p:sp>
      <p:pic>
        <p:nvPicPr>
          <p:cNvPr id="28" name="Image 3" descr="Lock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52331" y="4709160"/>
            <a:ext cx="365760" cy="365760"/>
          </a:xfrm>
          <a:prstGeom prst="rect">
            <a:avLst/>
          </a:prstGeom>
        </p:spPr>
      </p:pic>
      <p:sp>
        <p:nvSpPr>
          <p:cNvPr id="29" name="Text 23"/>
          <p:cNvSpPr txBox="1"/>
          <p:nvPr/>
        </p:nvSpPr>
        <p:spPr>
          <a:xfrm>
            <a:off x="9600971" y="4617720"/>
            <a:ext cx="20420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Jamais par l'IA</a:t>
            </a:r>
            <a:endParaRPr lang="en-US" sz="1200" dirty="0"/>
          </a:p>
        </p:txBody>
      </p:sp>
      <p:sp>
        <p:nvSpPr>
          <p:cNvPr id="30" name="Text 24"/>
          <p:cNvSpPr txBox="1"/>
          <p:nvPr/>
        </p:nvSpPr>
        <p:spPr>
          <a:xfrm>
            <a:off x="9600971" y="4956048"/>
            <a:ext cx="19963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8CFD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signature, Oqood, argent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8C96A8"/>
                </a:solidFill>
                <a:latin typeface="Montserrat"/>
                <a:ea typeface="Montserrat"/>
                <a:cs typeface="Montserrat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640080"/>
            <a:ext cx="1109441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000" b="1" dirty="0">
                <a:solidFill>
                  <a:schemeClr val="tx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Dans notre démo, 14 virements sur 19 sont rapprochés sans humain ; les 5 autres vont au directeur financier</a:t>
            </a:r>
            <a:endParaRPr lang="en-US" sz="2000" dirty="0"/>
          </a:p>
        </p:txBody>
      </p:sp>
      <p:sp>
        <p:nvSpPr>
          <p:cNvPr id="3" name="Text 1"/>
          <p:cNvSpPr/>
          <p:nvPr>
            <p:ph idx="101" type="body" hasCustomPrompt="1"/>
          </p:nvPr>
        </p:nvSpPr>
        <p:spPr>
          <a:xfrm>
            <a:off x="548640" y="347472"/>
            <a:ext cx="110944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8A6A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DÉMO DU POC · UN JALON SUR UNE TOUR FICTIVE</a:t>
            </a:r>
            <a:endParaRPr lang="en-US" sz="900" dirty="0"/>
          </a:p>
        </p:txBody>
      </p:sp>
      <p:sp>
        <p:nvSpPr>
          <p:cNvPr id="4" name="Text 1"/>
          <p:cNvSpPr/>
          <p:nvPr>
            <p:ph idx="103" type="body" hasCustomPrompt="1"/>
          </p:nvPr>
        </p:nvSpPr>
        <p:spPr>
          <a:xfrm>
            <a:off x="1828800" y="6400800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Source : POC Halden v0.2, « python -m halden demo » (tour fictive de 32 acheteurs). Banc d'essai interne : 0 faux rapprochement automatique sur 200 lignes écrites par l'équipe</a:t>
            </a:r>
            <a:endParaRPr lang="en-US" sz="900" dirty="0"/>
          </a:p>
        </p:txBody>
      </p:sp>
      <p:sp>
        <p:nvSpPr>
          <p:cNvPr id="5" name="Sticker"/>
          <p:cNvSpPr/>
          <p:nvPr/>
        </p:nvSpPr>
        <p:spPr>
          <a:xfrm>
            <a:off x="10271455" y="347472"/>
            <a:ext cx="1371600" cy="237744"/>
          </a:xfrm>
          <a:prstGeom prst="rect">
            <a:avLst/>
          </a:prstGeom>
          <a:solidFill>
            <a:srgbClr val="FFFFFF"/>
          </a:solidFill>
          <a:ln w="9525">
            <a:solidFill>
              <a:srgbClr val="C9A86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271455" y="34747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8A6A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DÉMO · FICTIF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41732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A6A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VIREMENTS REÇUS POUR LE JALON, NOMBRE (DÉMO, DONNÉES INVENTÉES)</a:t>
            </a:r>
            <a:endParaRPr lang="en-US" sz="900" dirty="0"/>
          </a:p>
        </p:txBody>
      </p:sp>
      <p:sp>
        <p:nvSpPr>
          <p:cNvPr id="8" name="Filet"/>
          <p:cNvSpPr/>
          <p:nvPr/>
        </p:nvSpPr>
        <p:spPr>
          <a:xfrm>
            <a:off x="548640" y="1764792"/>
            <a:ext cx="7680960" cy="0"/>
          </a:xfrm>
          <a:prstGeom prst="line">
            <a:avLst/>
          </a:prstGeom>
          <a:noFill/>
          <a:ln w="6350">
            <a:solidFill>
              <a:srgbClr val="0B142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13486" y="2331720"/>
            <a:ext cx="1190549" cy="3108960"/>
          </a:xfrm>
          <a:prstGeom prst="rect">
            <a:avLst/>
          </a:prstGeom>
          <a:solidFill>
            <a:srgbClr val="0B142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30606" y="1947672"/>
            <a:ext cx="155630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42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19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684886" y="5550408"/>
            <a:ext cx="164774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47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Virements reçus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104034" y="2331720"/>
            <a:ext cx="729691" cy="0"/>
          </a:xfrm>
          <a:prstGeom prst="line">
            <a:avLst/>
          </a:prstGeom>
          <a:noFill/>
          <a:ln w="9525">
            <a:solidFill>
              <a:srgbClr val="5B6472"/>
            </a:solidFill>
            <a:prstDash val="dash"/>
          </a:ln>
        </p:spPr>
      </p:sp>
      <p:sp>
        <p:nvSpPr>
          <p:cNvPr id="13" name="Shape 11"/>
          <p:cNvSpPr/>
          <p:nvPr/>
        </p:nvSpPr>
        <p:spPr>
          <a:xfrm>
            <a:off x="2833726" y="2331720"/>
            <a:ext cx="1190549" cy="2290813"/>
          </a:xfrm>
          <a:prstGeom prst="rect">
            <a:avLst/>
          </a:prstGeom>
          <a:solidFill>
            <a:srgbClr val="CBD1D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2650846" y="1947672"/>
            <a:ext cx="155630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42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−14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2605126" y="5550408"/>
            <a:ext cx="164774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47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Rapprochés sans humain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024274" y="4622533"/>
            <a:ext cx="729691" cy="0"/>
          </a:xfrm>
          <a:prstGeom prst="line">
            <a:avLst/>
          </a:prstGeom>
          <a:noFill/>
          <a:ln w="9525">
            <a:solidFill>
              <a:srgbClr val="5B6472"/>
            </a:solidFill>
            <a:prstDash val="dash"/>
          </a:ln>
        </p:spPr>
      </p:sp>
      <p:sp>
        <p:nvSpPr>
          <p:cNvPr id="17" name="Shape 15"/>
          <p:cNvSpPr/>
          <p:nvPr/>
        </p:nvSpPr>
        <p:spPr>
          <a:xfrm>
            <a:off x="4753966" y="4622533"/>
            <a:ext cx="1190549" cy="654518"/>
          </a:xfrm>
          <a:prstGeom prst="rect">
            <a:avLst/>
          </a:prstGeom>
          <a:solidFill>
            <a:srgbClr val="CBD1DA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4571086" y="4238485"/>
            <a:ext cx="155630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42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−4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4525366" y="5550408"/>
            <a:ext cx="164774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47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Validés par la CFO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944514" y="5277051"/>
            <a:ext cx="729691" cy="0"/>
          </a:xfrm>
          <a:prstGeom prst="line">
            <a:avLst/>
          </a:prstGeom>
          <a:noFill/>
          <a:ln w="9525">
            <a:solidFill>
              <a:srgbClr val="5B6472"/>
            </a:solidFill>
            <a:prstDash val="dash"/>
          </a:ln>
        </p:spPr>
      </p:sp>
      <p:sp>
        <p:nvSpPr>
          <p:cNvPr id="21" name="Shape 19"/>
          <p:cNvSpPr/>
          <p:nvPr/>
        </p:nvSpPr>
        <p:spPr>
          <a:xfrm>
            <a:off x="6674206" y="5277051"/>
            <a:ext cx="1190549" cy="163629"/>
          </a:xfrm>
          <a:prstGeom prst="rect">
            <a:avLst/>
          </a:prstGeom>
          <a:solidFill>
            <a:srgbClr val="8A6A3A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491326" y="4893003"/>
            <a:ext cx="155630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A6A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6445606" y="5550408"/>
            <a:ext cx="164774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47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Refusé à raison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48640" y="5440680"/>
            <a:ext cx="7680960" cy="0"/>
          </a:xfrm>
          <a:prstGeom prst="line">
            <a:avLst/>
          </a:prstGeom>
          <a:noFill/>
          <a:ln w="9525">
            <a:solidFill>
              <a:srgbClr val="D5D8D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686800" y="1600200"/>
            <a:ext cx="2956255" cy="4526280"/>
          </a:xfrm>
          <a:prstGeom prst="rect">
            <a:avLst/>
          </a:prstGeom>
          <a:solidFill>
            <a:srgbClr val="0B1426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8961120" y="1874520"/>
            <a:ext cx="240761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5400" b="1" dirty="0">
                <a:solidFill>
                  <a:srgbClr val="C9A86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</a:t>
            </a:r>
            <a:endParaRPr lang="en-US" sz="5400" dirty="0"/>
          </a:p>
        </p:txBody>
      </p:sp>
      <p:sp>
        <p:nvSpPr>
          <p:cNvPr id="27" name="Shape 25"/>
          <p:cNvSpPr/>
          <p:nvPr/>
        </p:nvSpPr>
        <p:spPr>
          <a:xfrm>
            <a:off x="8961120" y="3063240"/>
            <a:ext cx="731520" cy="0"/>
          </a:xfrm>
          <a:prstGeom prst="line">
            <a:avLst/>
          </a:prstGeom>
          <a:noFill/>
          <a:ln w="9525">
            <a:solidFill>
              <a:srgbClr val="C9A86A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8961120" y="3246120"/>
            <a:ext cx="2407615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message parti vers un acheteur sans validation. Le virement refusé portait la référence d'un autre acheteur : il n'est pas affecté automatiquement. 35 brouillons préparés, aucun envoyé (mode shadow).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5B6472"/>
                </a:solidFill>
                <a:latin typeface="Montserrat"/>
                <a:ea typeface="Montserrat"/>
                <a:cs typeface="Montserrat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640080"/>
            <a:ext cx="1109441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000" b="1" dirty="0">
                <a:solidFill>
                  <a:schemeClr val="tx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Le pack Dubaï est en préparation : des règles en tables, à faire valider par un juriste émirati avant tout usage réel</a:t>
            </a:r>
            <a:endParaRPr lang="en-US" sz="2000" dirty="0"/>
          </a:p>
        </p:txBody>
      </p:sp>
      <p:sp>
        <p:nvSpPr>
          <p:cNvPr id="3" name="Text 1"/>
          <p:cNvSpPr/>
          <p:nvPr>
            <p:ph idx="101" type="body" hasCustomPrompt="1"/>
          </p:nvPr>
        </p:nvSpPr>
        <p:spPr>
          <a:xfrm>
            <a:off x="548640" y="347472"/>
            <a:ext cx="110944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8A6A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PACK DE RÈGLES DUBAÏ</a:t>
            </a:r>
            <a:endParaRPr lang="en-US" sz="900" dirty="0"/>
          </a:p>
        </p:txBody>
      </p:sp>
      <p:sp>
        <p:nvSpPr>
          <p:cNvPr id="4" name="Text 1"/>
          <p:cNvSpPr/>
          <p:nvPr>
            <p:ph idx="103" type="body" hasCustomPrompt="1"/>
          </p:nvPr>
        </p:nvSpPr>
        <p:spPr>
          <a:xfrm>
            <a:off x="1828800" y="6400800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Sources : loi de Dubaï n° 8 de 2007 (escrow) ; loi n° 13 de 2008, art. 11, modifiée par la loi n° 19 de 2017 ; Al Tamimi &amp; Co. Résumés, pas un avis juridique</a:t>
            </a:r>
            <a:endParaRPr lang="en-US" sz="900" dirty="0"/>
          </a:p>
        </p:txBody>
      </p:sp>
      <p:sp>
        <p:nvSpPr>
          <p:cNvPr id="5" name="Sticker"/>
          <p:cNvSpPr/>
          <p:nvPr/>
        </p:nvSpPr>
        <p:spPr>
          <a:xfrm>
            <a:off x="9997135" y="347472"/>
            <a:ext cx="1645920" cy="237744"/>
          </a:xfrm>
          <a:prstGeom prst="rect">
            <a:avLst/>
          </a:prstGeom>
          <a:solidFill>
            <a:schemeClr val="bg1"/>
          </a:solidFill>
          <a:ln w="9525">
            <a:solidFill>
              <a:srgbClr val="C9A86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997135" y="347472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8A6A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 PRÉPARATION</a:t>
            </a:r>
            <a:endParaRPr lang="en-US" sz="9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694944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3657600"/>
                <a:gridCol w="118872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Règle</a:t>
                      </a: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36576" marB="36576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4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Ce que fait Halden</a:t>
                      </a: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36576" marB="36576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4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Statut</a:t>
                      </a: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36576" marB="36576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426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B1426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Un compte escrow par projet</a:t>
                      </a: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36576" marB="36576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1426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Prépare les appels et rapproche ; les fonds sont libérés selon l'avancement certifié, Halden ne les touche jamais</a:t>
                      </a: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36576" marB="36576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À VÉRIFIER</a:t>
                      </a: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36576" marB="36576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A63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B1426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Vente enregistrée à la DLD (Oqood)</a:t>
                      </a: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36576" marB="36576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1426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Garde les plans de paiement cohérents avec la vente enregistrée ; l'enregistrement reste fait par l'équipe</a:t>
                      </a: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36576" marB="36576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À VÉRIFIER</a:t>
                      </a: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36576" marB="36576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A63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B1426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Défaut de paiement</a:t>
                      </a: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36576" marB="36576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1426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Prépare le dossier de notification DLD et les options ci-contre ; la décision reste humaine</a:t>
                      </a: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36576" marB="36576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À VÉRIFIER</a:t>
                      </a: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36576" marB="36576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A63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7772400" y="1600200"/>
            <a:ext cx="3870655" cy="4480560"/>
          </a:xfrm>
          <a:prstGeom prst="rect">
            <a:avLst/>
          </a:prstGeom>
          <a:solidFill>
            <a:srgbClr val="0B1426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8046720" y="1783080"/>
            <a:ext cx="33220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C9A86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PROCÉDURE DE DÉFAUT, ÉTAPE PAR ÉTAPE</a:t>
            </a:r>
            <a:endParaRPr lang="en-U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8046720" y="22402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C9A86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8503920" y="2240280"/>
            <a:ext cx="28648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Le promoteur notifie le défaut à la DLD, qui notifie l'acheteur.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8046720" y="32004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C9A86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8503920" y="3200400"/>
            <a:ext cx="28648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L'acheteur dispose de 30 jours pour régulariser.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8046720" y="4160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C9A86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2"/>
          <p:cNvSpPr txBox="1"/>
          <p:nvPr/>
        </p:nvSpPr>
        <p:spPr>
          <a:xfrm>
            <a:off x="8503920" y="4160520"/>
            <a:ext cx="28648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Selon l'avancement certifié : ≥ 80 % maintien du contrat ou vente aux enchères ; 60–80 % résiliation, 40 % du prix au plus retenus ; &lt; 60 % : 25 % au plus.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8046720" y="5257800"/>
            <a:ext cx="3322015" cy="0"/>
          </a:xfrm>
          <a:prstGeom prst="line">
            <a:avLst/>
          </a:prstGeom>
          <a:noFill/>
          <a:ln w="6350">
            <a:solidFill>
              <a:srgbClr val="C9A86A">
                <a:alpha val="50000"/>
              </a:srgbClr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046720" y="5349240"/>
            <a:ext cx="33220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C8CFD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Dans le POC : étape J+30, décision humaine, contact automatique suspendu.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548640" y="4572000"/>
            <a:ext cx="6949440" cy="1508760"/>
          </a:xfrm>
          <a:prstGeom prst="rect">
            <a:avLst/>
          </a:prstGeom>
          <a:solidFill>
            <a:srgbClr val="F4F5F7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777240" y="4572000"/>
            <a:ext cx="64922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A6A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Vision, après un pilote réussi. </a:t>
            </a:r>
            <a:pPr indent="0" marL="0">
              <a:buNone/>
            </a:pPr>
            <a:r>
              <a:rPr lang="en-US" sz="1050" dirty="0">
                <a:solidFill>
                  <a:srgbClr val="0B142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L'Arabie saoudite (projets licenciés via Wafi, escrow projet) puis les autres étapes du parcours acheteur : livraison, information, garantie. Rien n'est commencé hors des encaissements à Dubaï.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5B6472"/>
                </a:solidFill>
                <a:latin typeface="Montserrat"/>
                <a:ea typeface="Montserrat"/>
                <a:cs typeface="Montserrat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640080"/>
            <a:ext cx="1109441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000" b="1" dirty="0">
                <a:solidFill>
                  <a:schemeClr val="tx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Avec nos prix indicatifs, Dubaï seul pèse environ AED 28 M de revenu annuel : une niche à prouver avant d'élargir</a:t>
            </a:r>
            <a:endParaRPr lang="en-US" sz="2000" dirty="0"/>
          </a:p>
        </p:txBody>
      </p:sp>
      <p:sp>
        <p:nvSpPr>
          <p:cNvPr id="3" name="Text 1"/>
          <p:cNvSpPr/>
          <p:nvPr>
            <p:ph idx="101" type="body" hasCustomPrompt="1"/>
          </p:nvPr>
        </p:nvSpPr>
        <p:spPr>
          <a:xfrm>
            <a:off x="548640" y="347472"/>
            <a:ext cx="110944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8A6A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MODÈLE DE REVENUS ET MARCHÉ ADRESSABLE</a:t>
            </a:r>
            <a:endParaRPr lang="en-US" sz="900" dirty="0"/>
          </a:p>
        </p:txBody>
      </p:sp>
      <p:sp>
        <p:nvSpPr>
          <p:cNvPr id="4" name="Text 1"/>
          <p:cNvSpPr/>
          <p:nvPr>
            <p:ph idx="103" type="body" hasCustomPrompt="1"/>
          </p:nvPr>
        </p:nvSpPr>
        <p:spPr>
          <a:xfrm>
            <a:off x="1828800" y="6400800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Prix : site Halden et partner brief (indicatifs). Sources des volumes : TradeArabia (937 projets, 2025) ; REGA/Wafi (101 942 unités, 2023). Unités par projet et projets neufs : nos hypothèses</a:t>
            </a:r>
            <a:endParaRPr lang="en-US" sz="900" dirty="0"/>
          </a:p>
        </p:txBody>
      </p:sp>
      <p:sp>
        <p:nvSpPr>
          <p:cNvPr id="5" name="Sticker"/>
          <p:cNvSpPr/>
          <p:nvPr/>
        </p:nvSpPr>
        <p:spPr>
          <a:xfrm>
            <a:off x="10271455" y="347472"/>
            <a:ext cx="1371600" cy="237744"/>
          </a:xfrm>
          <a:prstGeom prst="rect">
            <a:avLst/>
          </a:prstGeom>
          <a:solidFill>
            <a:schemeClr val="bg1"/>
          </a:solidFill>
          <a:ln w="9525">
            <a:solidFill>
              <a:srgbClr val="C9A86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271455" y="34747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8A6A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HYPOTHÈSE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645920"/>
            <a:ext cx="4023360" cy="914400"/>
          </a:xfrm>
          <a:prstGeom prst="rect">
            <a:avLst/>
          </a:prstGeom>
          <a:solidFill>
            <a:srgbClr val="F4F5F7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31520" y="164592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42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AED 15 000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2606040" y="1737360"/>
            <a:ext cx="1874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142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mise en place par projet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B142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pack pays, import des plans, prix et acheteurs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48640" y="2670048"/>
            <a:ext cx="4023360" cy="914400"/>
          </a:xfrm>
          <a:prstGeom prst="rect">
            <a:avLst/>
          </a:prstGeom>
          <a:solidFill>
            <a:srgbClr val="0B142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31520" y="2670048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A86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AED 6–12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2606040" y="2761488"/>
            <a:ext cx="1874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par appartement et par mois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 l'appel au solde de la livraison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48640" y="3694176"/>
            <a:ext cx="4023360" cy="914400"/>
          </a:xfrm>
          <a:prstGeom prst="rect">
            <a:avLst/>
          </a:prstGeom>
          <a:solidFill>
            <a:srgbClr val="F4F5F7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31520" y="3694176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42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À définir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2606040" y="3785616"/>
            <a:ext cx="1874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142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 garantie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B142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qui paie pendant 10 ans : question ouverte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4937760" y="1417320"/>
            <a:ext cx="6705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A6A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CALCUL, DUBAÏ SEUL (HYPOTHÈSES ÉTIQUETÉES)</a:t>
            </a:r>
            <a:endParaRPr lang="en-US" sz="900" dirty="0"/>
          </a:p>
        </p:txBody>
      </p:sp>
      <p:sp>
        <p:nvSpPr>
          <p:cNvPr id="17" name="Filet"/>
          <p:cNvSpPr/>
          <p:nvPr/>
        </p:nvSpPr>
        <p:spPr>
          <a:xfrm>
            <a:off x="4937760" y="1764792"/>
            <a:ext cx="6705295" cy="0"/>
          </a:xfrm>
          <a:prstGeom prst="line">
            <a:avLst/>
          </a:prstGeom>
          <a:noFill/>
          <a:ln w="6350">
            <a:solidFill>
              <a:srgbClr val="0B142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937760" y="192024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42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937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7132320" y="1920240"/>
            <a:ext cx="45107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B142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projets en construction (TradeArabia, 2025)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4937760" y="237744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42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× 250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7132320" y="2377440"/>
            <a:ext cx="45107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B142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unités par projet : hypothèse, à vérifier sur les données DLD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4937760" y="283464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42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× AED 9 × 12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7132320" y="2834640"/>
            <a:ext cx="45107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B142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prix mensuel moyen entre 6 et 12, sur un an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4937760" y="329184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A6A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= AED 25,3 M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7132320" y="3291840"/>
            <a:ext cx="45107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B142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abonnements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4937760" y="374904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42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+ AED 2,8 M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7132320" y="3749040"/>
            <a:ext cx="45107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B142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mise en place : environ 190 projets neufs par an (hypothèse : +25 %) × AED 15 000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937760" y="4251960"/>
            <a:ext cx="6705295" cy="0"/>
          </a:xfrm>
          <a:prstGeom prst="line">
            <a:avLst/>
          </a:prstGeom>
          <a:noFill/>
          <a:ln w="9525">
            <a:solidFill>
              <a:srgbClr val="0B1426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4937760" y="4343400"/>
            <a:ext cx="6705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8A6A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≈ AED 28 M par an</a:t>
            </a:r>
            <a:pPr indent="0" marL="0">
              <a:buNone/>
            </a:pPr>
            <a:r>
              <a:rPr lang="en-US" sz="1050" dirty="0">
                <a:solidFill>
                  <a:srgbClr val="0B142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à Dubaï, si chaque projet était client. L'Arabie saoudite se calcule à part : 101 942 unités licenciées en 2023, soit environ AED 11 M au même prix.</a:t>
            </a:r>
            <a:endParaRPr lang="en-US" sz="1050" dirty="0"/>
          </a:p>
        </p:txBody>
      </p:sp>
      <p:sp>
        <p:nvSpPr>
          <p:cNvPr id="30" name="Cadre"/>
          <p:cNvSpPr/>
          <p:nvPr/>
        </p:nvSpPr>
        <p:spPr>
          <a:xfrm>
            <a:off x="548640" y="5120640"/>
            <a:ext cx="11094415" cy="960120"/>
          </a:xfrm>
          <a:prstGeom prst="rect">
            <a:avLst/>
          </a:prstGeom>
          <a:solidFill>
            <a:schemeClr val="bg1"/>
          </a:solidFill>
          <a:ln w="9525">
            <a:solidFill>
              <a:srgbClr val="D5D8DE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777240" y="5120640"/>
            <a:ext cx="106372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A6A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Questions ouvertes pour le juriste : </a:t>
            </a:r>
            <a:pPr indent="0" marL="0">
              <a:buNone/>
            </a:pPr>
            <a:r>
              <a:rPr lang="en-US" sz="1000" dirty="0">
                <a:solidFill>
                  <a:srgbClr val="0B142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une commission sur les retards recouvrés relève-t-elle du recouvrement de créances, activité soumise à licence aux EAU ? Qui paie des frais de garantie pendant 10 ans après la livraison ? Coût IA : AED 0,30 par appartement et par mois retenu par prudence ; le POC mesure la consommation réelle.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5B6472"/>
                </a:solidFill>
                <a:latin typeface="Montserrat"/>
                <a:ea typeface="Montserrat"/>
                <a:cs typeface="Montserrat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640080"/>
            <a:ext cx="1109441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000" b="1" dirty="0">
                <a:solidFill>
                  <a:schemeClr val="tx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Notre objectif à 90 jours : un promoteur qui accepte un shadow run, jugé sur quatre chiffres fixés d'avance</a:t>
            </a:r>
            <a:endParaRPr lang="en-US" sz="2000" dirty="0"/>
          </a:p>
        </p:txBody>
      </p:sp>
      <p:sp>
        <p:nvSpPr>
          <p:cNvPr id="3" name="Text 1"/>
          <p:cNvSpPr/>
          <p:nvPr>
            <p:ph idx="101" type="body" hasCustomPrompt="1"/>
          </p:nvPr>
        </p:nvSpPr>
        <p:spPr>
          <a:xfrm>
            <a:off x="548640" y="347472"/>
            <a:ext cx="110944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8A6A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PROSPECTION ET SHADOW PILOT</a:t>
            </a:r>
            <a:endParaRPr lang="en-US" sz="900" dirty="0"/>
          </a:p>
        </p:txBody>
      </p:sp>
      <p:sp>
        <p:nvSpPr>
          <p:cNvPr id="4" name="Text 1"/>
          <p:cNvSpPr/>
          <p:nvPr>
            <p:ph idx="103" type="body" hasCustomPrompt="1"/>
          </p:nvPr>
        </p:nvSpPr>
        <p:spPr>
          <a:xfrm>
            <a:off x="1828800" y="6400800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Objectifs internes, non encore atteints. Base de temps : relevée chez le promoteur en semaine 1. Le taux de la démo (14 sur 19) ne préjuge pas du taux réel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1732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A6A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ENTONNOIR DE PROSPECTION</a:t>
            </a:r>
            <a:endParaRPr lang="en-US" sz="900" dirty="0"/>
          </a:p>
        </p:txBody>
      </p:sp>
      <p:sp>
        <p:nvSpPr>
          <p:cNvPr id="6" name="Filet"/>
          <p:cNvSpPr/>
          <p:nvPr/>
        </p:nvSpPr>
        <p:spPr>
          <a:xfrm>
            <a:off x="548640" y="1764792"/>
            <a:ext cx="4206240" cy="0"/>
          </a:xfrm>
          <a:prstGeom prst="line">
            <a:avLst/>
          </a:prstGeom>
          <a:noFill/>
          <a:ln w="6350">
            <a:solidFill>
              <a:srgbClr val="0B142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920240"/>
            <a:ext cx="4206240" cy="868680"/>
          </a:xfrm>
          <a:prstGeom prst="rect">
            <a:avLst/>
          </a:prstGeom>
          <a:solidFill>
            <a:srgbClr val="0B142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31520" y="1920240"/>
            <a:ext cx="822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30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1554480" y="192024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promoteurs de Dubaï avec un 2e projet licencié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48640" y="2944368"/>
            <a:ext cx="3474720" cy="868680"/>
          </a:xfrm>
          <a:prstGeom prst="rect">
            <a:avLst/>
          </a:prstGeom>
          <a:solidFill>
            <a:srgbClr val="3A4A6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31520" y="2944368"/>
            <a:ext cx="822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10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1554480" y="2944368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introductions chaudes : alumni, LinkedIn, courtiers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48640" y="3968496"/>
            <a:ext cx="2743200" cy="868680"/>
          </a:xfrm>
          <a:prstGeom prst="rect">
            <a:avLst/>
          </a:prstGeom>
          <a:solidFill>
            <a:srgbClr val="3A4A63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31520" y="3968496"/>
            <a:ext cx="822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</a:t>
            </a:r>
            <a:endParaRPr lang="en-US" sz="2400" dirty="0"/>
          </a:p>
        </p:txBody>
      </p:sp>
      <p:sp>
        <p:nvSpPr>
          <p:cNvPr id="15" name="Text 13"/>
          <p:cNvSpPr txBox="1"/>
          <p:nvPr/>
        </p:nvSpPr>
        <p:spPr>
          <a:xfrm>
            <a:off x="1554480" y="3968496"/>
            <a:ext cx="1645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entretiens avec la finance, pas les CEO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48640" y="4992624"/>
            <a:ext cx="2011680" cy="868680"/>
          </a:xfrm>
          <a:prstGeom prst="rect">
            <a:avLst/>
          </a:prstGeom>
          <a:solidFill>
            <a:srgbClr val="8A6A3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31520" y="4992624"/>
            <a:ext cx="822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2400" dirty="0"/>
          </a:p>
        </p:txBody>
      </p:sp>
      <p:sp>
        <p:nvSpPr>
          <p:cNvPr id="18" name="Text 16"/>
          <p:cNvSpPr txBox="1"/>
          <p:nvPr/>
        </p:nvSpPr>
        <p:spPr>
          <a:xfrm>
            <a:off x="1554480" y="4992624"/>
            <a:ext cx="914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shadow run accepté</a:t>
            </a:r>
            <a:endParaRPr lang="en-US" sz="950" dirty="0"/>
          </a:p>
        </p:txBody>
      </p:sp>
      <p:sp>
        <p:nvSpPr>
          <p:cNvPr id="19" name="Text 17"/>
          <p:cNvSpPr txBox="1"/>
          <p:nvPr/>
        </p:nvSpPr>
        <p:spPr>
          <a:xfrm>
            <a:off x="5212080" y="1417320"/>
            <a:ext cx="64309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A6A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COMMENT LE SHADOW RUN EST JUGÉ</a:t>
            </a:r>
            <a:endParaRPr lang="en-US" sz="900" dirty="0"/>
          </a:p>
        </p:txBody>
      </p:sp>
      <p:sp>
        <p:nvSpPr>
          <p:cNvPr id="20" name="Filet"/>
          <p:cNvSpPr/>
          <p:nvPr/>
        </p:nvSpPr>
        <p:spPr>
          <a:xfrm>
            <a:off x="5212080" y="1764792"/>
            <a:ext cx="6430975" cy="0"/>
          </a:xfrm>
          <a:prstGeom prst="line">
            <a:avLst/>
          </a:prstGeom>
          <a:noFill/>
          <a:ln w="6350">
            <a:solidFill>
              <a:srgbClr val="0B142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212080" y="1920240"/>
            <a:ext cx="54864" cy="731520"/>
          </a:xfrm>
          <a:prstGeom prst="rect">
            <a:avLst/>
          </a:prstGeom>
          <a:solidFill>
            <a:srgbClr val="0B1426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5440680" y="192024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42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Temps passé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7315200" y="1920240"/>
            <a:ext cx="43278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B142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Heures de l'équipe pour préparer le jalon, contre la base mesurée chez lui en semaine 1.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212080" y="2788920"/>
            <a:ext cx="54864" cy="731520"/>
          </a:xfrm>
          <a:prstGeom prst="rect">
            <a:avLst/>
          </a:prstGeom>
          <a:solidFill>
            <a:srgbClr val="8A6A3A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5440680" y="278892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42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Rapprochement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7315200" y="2788920"/>
            <a:ext cx="43278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B142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Part des virements rapprochés sans humain sur ses vrais relevés, et zéro rapprochement automatique faux.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212080" y="3657600"/>
            <a:ext cx="54864" cy="731520"/>
          </a:xfrm>
          <a:prstGeom prst="rect">
            <a:avLst/>
          </a:prstGeom>
          <a:solidFill>
            <a:srgbClr val="0B1426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5440680" y="365760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42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Exactitude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7315200" y="3657600"/>
            <a:ext cx="43278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B142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Zéro écart de montant entre les appels Halden et ceux de l'équipe.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212080" y="4526280"/>
            <a:ext cx="54864" cy="731520"/>
          </a:xfrm>
          <a:prstGeom prst="rect">
            <a:avLst/>
          </a:prstGeom>
          <a:solidFill>
            <a:srgbClr val="0B1426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5440680" y="452628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42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Prudence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7315200" y="4526280"/>
            <a:ext cx="43278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B142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Chaque « j'ai payé », avocat ou réclamation remonté à un humain, sans exception.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212080" y="5486400"/>
            <a:ext cx="6430975" cy="594360"/>
          </a:xfrm>
          <a:prstGeom prst="rect">
            <a:avLst/>
          </a:prstGeom>
          <a:solidFill>
            <a:srgbClr val="F4F5F7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5440680" y="5486400"/>
            <a:ext cx="597377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A6A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Ensuite : </a:t>
            </a:r>
            <a:pPr indent="0" marL="0">
              <a:buNone/>
            </a:pPr>
            <a:r>
              <a:rPr lang="en-US" sz="1050" dirty="0">
                <a:solidFill>
                  <a:srgbClr val="0B142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prix convenu avant le pilote, appliqué seulement si les chiffres sont atteints.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5B6472"/>
                </a:solidFill>
                <a:latin typeface="Montserrat"/>
                <a:ea typeface="Montserrat"/>
                <a:cs typeface="Montserrat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640080"/>
            <a:ext cx="1109441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000" b="1" dirty="0">
                <a:solidFill>
                  <a:schemeClr val="tx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Nos risques tiennent à la confiance, aux règles, aux acteurs en place et à notre propre IA</a:t>
            </a:r>
            <a:endParaRPr lang="en-US" sz="2000" dirty="0"/>
          </a:p>
        </p:txBody>
      </p:sp>
      <p:sp>
        <p:nvSpPr>
          <p:cNvPr id="3" name="Text 1"/>
          <p:cNvSpPr/>
          <p:nvPr>
            <p:ph idx="101" type="body" hasCustomPrompt="1"/>
          </p:nvPr>
        </p:nvSpPr>
        <p:spPr>
          <a:xfrm>
            <a:off x="548640" y="347472"/>
            <a:ext cx="110944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8A6A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RISQUES PRINCIPAUX</a:t>
            </a:r>
            <a:endParaRPr lang="en-US" sz="900" dirty="0"/>
          </a:p>
        </p:txBody>
      </p:sp>
      <p:sp>
        <p:nvSpPr>
          <p:cNvPr id="4" name="Text 1"/>
          <p:cNvSpPr/>
          <p:nvPr>
            <p:ph idx="103" type="body" hasCustomPrompt="1"/>
          </p:nvPr>
        </p:nvSpPr>
        <p:spPr>
          <a:xfrm>
            <a:off x="1828800" y="6400800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Source : revue interne de l'équipe, 24 octobre 2026 ; tests du POC Halden v0.2. PDPL : décret-loi fédéral n° 45 de 2021</a:t>
            </a:r>
            <a:endParaRPr lang="en-US" sz="9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94415" cy="914400"/>
        </p:xfrm>
        <a:graphic>
          <a:graphicData uri="http://schemas.openxmlformats.org/drawingml/2006/table">
            <a:tbl>
              <a:tblPr/>
              <a:tblGrid>
                <a:gridCol w="2292235"/>
                <a:gridCol w="4492780"/>
                <a:gridCol w="4309401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Risque</a:t>
                      </a: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36576" marB="36576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4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Pourquoi c'est critique</a:t>
                      </a: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36576" marB="36576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4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Notre réponse</a:t>
                      </a: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36576" marB="36576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A6A3A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B1426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Confiance</a:t>
                      </a: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36576" marB="36576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1426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Un promoteur confie son cash et sa réputation à une équipe sans client.</a:t>
                      </a: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36576" marB="36576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1426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Shadow run : rien n'est envoyé ; comparaison sur ses données.</a:t>
                      </a: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36576" marB="36576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B1426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Contrôle de la rédaction IA</a:t>
                      </a: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36576" marB="36576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1426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Un montant faux ou un message déplacé vers un acheteur met fin au pilote.</a:t>
                      </a: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36576" marB="36576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1426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Montants contrôlés dans toutes les écritures ; chaque message validé.</a:t>
                      </a: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36576" marB="36576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B1426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Acteurs en place</a:t>
                      </a: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36576" marB="36576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1426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Akarati, RealSoft et In4Suite peuvent ajouter ce que nous faisons.</a:t>
                      </a: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36576" marB="36576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1426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Se poser au-dessus de leur ERP ; prouver sur un vrai relevé.</a:t>
                      </a: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36576" marB="36576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B1426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Réaction des acheteurs</a:t>
                      </a: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36576" marB="36576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1426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Des messages IA au nom du promoteur peuvent heurter un acheteur.</a:t>
                      </a: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36576" marB="36576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1426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Modèles relus par un arabophone natif ; arrêt au premier signal.</a:t>
                      </a: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36576" marB="36576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B1426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Exactitude des règles</a:t>
                      </a: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36576" marB="36576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1426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Une mauvaise étape de défaut a des conséquences juridiques.</a:t>
                      </a: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36576" marB="36576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1426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Règles en tables, signées par un juriste émirati avant usage réel.</a:t>
                      </a: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36576" marB="36576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B1426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Données personnelles</a:t>
                      </a: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36576" marB="36576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1426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Identités, IBAN et adresses d'acheteurs ; PDPL aux EAU.</a:t>
                      </a: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36576" marB="36576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1426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Région AWS des EAU ; noms remplacés par des marqueurs avant l'IA.</a:t>
                      </a: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36576" marB="36576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B1426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Capacité et dépendance</a:t>
                      </a: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36576" marB="36576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1426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Quatre étudiants à temps partiel ; un seul pilote possible à la fois.</a:t>
                      </a: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36576" marB="36576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1426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Un agent, un pays ; trois prospects actifs en parallèle.</a:t>
                      </a: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36576" marB="36576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5B6472"/>
                </a:solidFill>
                <a:latin typeface="Montserrat"/>
                <a:ea typeface="Montserrat"/>
                <a:cs typeface="Montserrat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00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640080"/>
            <a:ext cx="1109441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000" b="1" dirty="0">
                <a:solidFill>
                  <a:schemeClr val="tx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Quatre étudiants de SKEMA Business School, concentrés sur un seul problème : les encaissements off-plan</a:t>
            </a:r>
            <a:endParaRPr lang="en-US" sz="2000" dirty="0"/>
          </a:p>
        </p:txBody>
      </p:sp>
      <p:sp>
        <p:nvSpPr>
          <p:cNvPr id="3" name="Text 1"/>
          <p:cNvSpPr/>
          <p:nvPr>
            <p:ph idx="101" type="body" hasCustomPrompt="1"/>
          </p:nvPr>
        </p:nvSpPr>
        <p:spPr>
          <a:xfrm>
            <a:off x="548640" y="347472"/>
            <a:ext cx="110944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8A6A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ÉQUIPE</a:t>
            </a:r>
            <a:endParaRPr lang="en-US" sz="900" dirty="0"/>
          </a:p>
        </p:txBody>
      </p:sp>
      <p:sp>
        <p:nvSpPr>
          <p:cNvPr id="4" name="Text 1"/>
          <p:cNvSpPr/>
          <p:nvPr>
            <p:ph idx="103" type="body" hasCustomPrompt="1"/>
          </p:nvPr>
        </p:nvSpPr>
        <p:spPr>
          <a:xfrm>
            <a:off x="1828800" y="6400800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Programme de six mois encadré par la faculté (track AI-native, SKEMA). Contact : haldennn.netlify.app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981037" y="1691640"/>
            <a:ext cx="1737360" cy="1737360"/>
          </a:xfrm>
          <a:prstGeom prst="ellipse">
            <a:avLst/>
          </a:prstGeom>
          <a:solidFill>
            <a:srgbClr val="F4F5F7"/>
          </a:solidFill>
          <a:ln w="9525">
            <a:solidFill>
              <a:srgbClr val="D5D8DE"/>
            </a:solidFill>
            <a:prstDash val="solid"/>
          </a:ln>
        </p:spPr>
      </p:sp>
      <p:pic>
        <p:nvPicPr>
          <p:cNvPr id="6" name="Image 0" descr="Photo à insére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9677" y="2240280"/>
            <a:ext cx="640080" cy="64008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3566160"/>
            <a:ext cx="260215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42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Jennifer El Karaki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3950208"/>
            <a:ext cx="260215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8A6A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STRATÉGIE ET PROCESSUS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1575397" y="4343400"/>
            <a:ext cx="548640" cy="0"/>
          </a:xfrm>
          <a:prstGeom prst="line">
            <a:avLst/>
          </a:prstGeom>
          <a:noFill/>
          <a:ln w="9525">
            <a:solidFill>
              <a:srgbClr val="C9A86A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40080" y="4480560"/>
            <a:ext cx="241927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MSc Strategic Management and Consulting, SKEMA. Carte des processus, revue qualité.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3811791" y="1691640"/>
            <a:ext cx="1737360" cy="1737360"/>
          </a:xfrm>
          <a:prstGeom prst="ellipse">
            <a:avLst/>
          </a:prstGeom>
          <a:solidFill>
            <a:srgbClr val="F4F5F7"/>
          </a:solidFill>
          <a:ln w="19050">
            <a:solidFill>
              <a:srgbClr val="8A6A3A"/>
            </a:solidFill>
            <a:prstDash val="solid"/>
          </a:ln>
        </p:spPr>
      </p:sp>
      <p:pic>
        <p:nvPicPr>
          <p:cNvPr id="12" name="Image 1" descr="Photo à insérer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60431" y="2240280"/>
            <a:ext cx="640080" cy="64008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3379394" y="3566160"/>
            <a:ext cx="260215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42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Karam</a:t>
            </a:r>
            <a:endParaRPr lang="en-US" sz="1300" dirty="0"/>
          </a:p>
        </p:txBody>
      </p:sp>
      <p:sp>
        <p:nvSpPr>
          <p:cNvPr id="14" name="Text 10"/>
          <p:cNvSpPr txBox="1"/>
          <p:nvPr/>
        </p:nvSpPr>
        <p:spPr>
          <a:xfrm>
            <a:off x="3379394" y="3950208"/>
            <a:ext cx="260215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8A6A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PRODUIT ET PROTOTYPE</a:t>
            </a:r>
            <a:endParaRPr lang="en-US" sz="900" dirty="0"/>
          </a:p>
        </p:txBody>
      </p:sp>
      <p:sp>
        <p:nvSpPr>
          <p:cNvPr id="15" name="Shape 11"/>
          <p:cNvSpPr/>
          <p:nvPr/>
        </p:nvSpPr>
        <p:spPr>
          <a:xfrm>
            <a:off x="4406151" y="4343400"/>
            <a:ext cx="548640" cy="0"/>
          </a:xfrm>
          <a:prstGeom prst="line">
            <a:avLst/>
          </a:prstGeom>
          <a:noFill/>
          <a:ln w="9525">
            <a:solidFill>
              <a:srgbClr val="C9A86A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3470834" y="4480560"/>
            <a:ext cx="241927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Moteur agentique, POC et prototypes ; dossiers et présentations.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6642544" y="1691640"/>
            <a:ext cx="1737360" cy="1737360"/>
          </a:xfrm>
          <a:prstGeom prst="ellipse">
            <a:avLst/>
          </a:prstGeom>
          <a:solidFill>
            <a:srgbClr val="F4F5F7"/>
          </a:solidFill>
          <a:ln w="9525">
            <a:solidFill>
              <a:srgbClr val="D5D8DE"/>
            </a:solidFill>
            <a:prstDash val="solid"/>
          </a:ln>
        </p:spPr>
      </p:sp>
      <p:pic>
        <p:nvPicPr>
          <p:cNvPr id="18" name="Image 2" descr="Photo à insérer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1184" y="2240280"/>
            <a:ext cx="640080" cy="64008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6210148" y="3566160"/>
            <a:ext cx="260215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42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Dhruv</a:t>
            </a:r>
            <a:endParaRPr lang="en-US" sz="1300" dirty="0"/>
          </a:p>
        </p:txBody>
      </p:sp>
      <p:sp>
        <p:nvSpPr>
          <p:cNvPr id="20" name="Text 15"/>
          <p:cNvSpPr txBox="1"/>
          <p:nvPr/>
        </p:nvSpPr>
        <p:spPr>
          <a:xfrm>
            <a:off x="6210148" y="3950208"/>
            <a:ext cx="260215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8A6A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MEMBRE FONDATEUR</a:t>
            </a:r>
            <a:endParaRPr lang="en-US" sz="900" dirty="0"/>
          </a:p>
        </p:txBody>
      </p:sp>
      <p:sp>
        <p:nvSpPr>
          <p:cNvPr id="21" name="Shape 16"/>
          <p:cNvSpPr/>
          <p:nvPr/>
        </p:nvSpPr>
        <p:spPr>
          <a:xfrm>
            <a:off x="7236904" y="4343400"/>
            <a:ext cx="548640" cy="0"/>
          </a:xfrm>
          <a:prstGeom prst="line">
            <a:avLst/>
          </a:prstGeom>
          <a:noFill/>
          <a:ln w="9525">
            <a:solidFill>
              <a:srgbClr val="C9A86A"/>
            </a:solidFill>
            <a:prstDash val="solid"/>
          </a:ln>
        </p:spPr>
      </p:sp>
      <p:sp>
        <p:nvSpPr>
          <p:cNvPr id="22" name="Text 17"/>
          <p:cNvSpPr txBox="1"/>
          <p:nvPr/>
        </p:nvSpPr>
        <p:spPr>
          <a:xfrm>
            <a:off x="6301588" y="4480560"/>
            <a:ext cx="241927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SKEMA Business School.</a:t>
            </a:r>
            <a:endParaRPr lang="en-US" sz="1000" dirty="0"/>
          </a:p>
        </p:txBody>
      </p:sp>
      <p:sp>
        <p:nvSpPr>
          <p:cNvPr id="23" name="Shape 18"/>
          <p:cNvSpPr/>
          <p:nvPr/>
        </p:nvSpPr>
        <p:spPr>
          <a:xfrm>
            <a:off x="9473298" y="1691640"/>
            <a:ext cx="1737360" cy="1737360"/>
          </a:xfrm>
          <a:prstGeom prst="ellipse">
            <a:avLst/>
          </a:prstGeom>
          <a:solidFill>
            <a:srgbClr val="F4F5F7"/>
          </a:solidFill>
          <a:ln w="9525">
            <a:solidFill>
              <a:srgbClr val="D5D8DE"/>
            </a:solidFill>
            <a:prstDash val="solid"/>
          </a:ln>
        </p:spPr>
      </p:sp>
      <p:pic>
        <p:nvPicPr>
          <p:cNvPr id="24" name="Image 3" descr="Photo à insérer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21938" y="2240280"/>
            <a:ext cx="640080" cy="640080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9040901" y="3566160"/>
            <a:ext cx="260215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42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Thomas</a:t>
            </a:r>
            <a:endParaRPr lang="en-US" sz="1300" dirty="0"/>
          </a:p>
        </p:txBody>
      </p:sp>
      <p:sp>
        <p:nvSpPr>
          <p:cNvPr id="26" name="Text 20"/>
          <p:cNvSpPr txBox="1"/>
          <p:nvPr/>
        </p:nvSpPr>
        <p:spPr>
          <a:xfrm>
            <a:off x="9040901" y="3950208"/>
            <a:ext cx="260215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8A6A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MEMBRE FONDATEUR</a:t>
            </a:r>
            <a:endParaRPr lang="en-US" sz="900" dirty="0"/>
          </a:p>
        </p:txBody>
      </p:sp>
      <p:sp>
        <p:nvSpPr>
          <p:cNvPr id="27" name="Shape 21"/>
          <p:cNvSpPr/>
          <p:nvPr/>
        </p:nvSpPr>
        <p:spPr>
          <a:xfrm>
            <a:off x="10067658" y="4343400"/>
            <a:ext cx="548640" cy="0"/>
          </a:xfrm>
          <a:prstGeom prst="line">
            <a:avLst/>
          </a:prstGeom>
          <a:noFill/>
          <a:ln w="9525">
            <a:solidFill>
              <a:srgbClr val="C9A86A"/>
            </a:solidFill>
            <a:prstDash val="solid"/>
          </a:ln>
        </p:spPr>
      </p:sp>
      <p:sp>
        <p:nvSpPr>
          <p:cNvPr id="28" name="Text 22"/>
          <p:cNvSpPr txBox="1"/>
          <p:nvPr/>
        </p:nvSpPr>
        <p:spPr>
          <a:xfrm>
            <a:off x="9132341" y="4480560"/>
            <a:ext cx="241927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SKEMA Business School.</a:t>
            </a:r>
            <a:endParaRPr lang="en-US" sz="1000" dirty="0"/>
          </a:p>
        </p:txBody>
      </p:sp>
      <p:sp>
        <p:nvSpPr>
          <p:cNvPr id="29" name="Shape 23"/>
          <p:cNvSpPr/>
          <p:nvPr/>
        </p:nvSpPr>
        <p:spPr>
          <a:xfrm>
            <a:off x="548640" y="5486400"/>
            <a:ext cx="11094415" cy="594360"/>
          </a:xfrm>
          <a:prstGeom prst="rect">
            <a:avLst/>
          </a:prstGeom>
          <a:solidFill>
            <a:srgbClr val="0B1426"/>
          </a:solidFill>
          <a:ln/>
        </p:spPr>
      </p:sp>
      <p:sp>
        <p:nvSpPr>
          <p:cNvPr id="30" name="Text 24"/>
          <p:cNvSpPr txBox="1"/>
          <p:nvPr/>
        </p:nvSpPr>
        <p:spPr>
          <a:xfrm>
            <a:off x="822960" y="5486400"/>
            <a:ext cx="1054577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86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Déjà en place :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un site avec une démo interactive, et un prototype qui rapproche, prépare et soumet chaque message à une personne (25 tests).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5B6472"/>
                </a:solidFill>
                <a:latin typeface="Montserrat"/>
                <a:ea typeface="Montserrat"/>
                <a:cs typeface="Montserrat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Halden">
  <a:themeElements>
    <a:clrScheme name="Halden">
      <a:dk1>
        <a:srgbClr val="0B1426"/>
      </a:dk1>
      <a:lt1>
        <a:srgbClr val="FFFFFF"/>
      </a:lt1>
      <a:dk2>
        <a:srgbClr val="0B1426"/>
      </a:dk2>
      <a:lt2>
        <a:srgbClr val="F4F5F7"/>
      </a:lt2>
      <a:accent1>
        <a:srgbClr val="0B1426"/>
      </a:accent1>
      <a:accent2>
        <a:srgbClr val="C9A86A"/>
      </a:accent2>
      <a:accent3>
        <a:srgbClr val="8A6A3A"/>
      </a:accent3>
      <a:accent4>
        <a:srgbClr val="5B6472"/>
      </a:accent4>
      <a:accent5>
        <a:srgbClr val="050A15"/>
      </a:accent5>
      <a:accent6>
        <a:srgbClr val="B42318"/>
      </a:accent6>
      <a:hlink>
        <a:srgbClr val="8A6A3A"/>
      </a:hlink>
      <a:folHlink>
        <a:srgbClr val="5B6472"/>
      </a:folHlink>
    </a:clrScheme>
    <a:fontScheme name="Halden">
      <a:majorFont>
        <a:latin typeface="Montserra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IBM Plex Sans Arabic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ontserrat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IBM Plex Sans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Halden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Halden : dossier startup</dc:title>
  <dc:subject>PptxGenJS Presentation</dc:subject>
  <dc:creator>Halden</dc:creator>
  <cp:lastModifiedBy>Halden</cp:lastModifiedBy>
  <cp:revision>1</cp:revision>
  <dcterms:created xsi:type="dcterms:W3CDTF">2026-10-25T16:18:18Z</dcterms:created>
  <dcterms:modified xsi:type="dcterms:W3CDTF">2026-10-25T16:18:18Z</dcterms:modified>
</cp:coreProperties>
</file>