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rte" id="{29696094-5a55-4dd9-1be2-152402600f5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Virements</c:v>
                </c:pt>
              </c:strCache>
            </c:strRef>
          </c:tx>
          <c:spPr>
            <a:solidFill>
              <a:srgbClr val="0B14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4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14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BD1D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1D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Sans humain</c:v>
                  </c:pt>
                  <c:pt idx="1">
                    <c:v>Validés par la CFO</c:v>
                  </c:pt>
                  <c:pt idx="2">
                    <c:v>Refusé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4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8D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14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H_DARK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H_COVER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H_DIVIDER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H_END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· SUJET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la conclusion de la slide en une phrase</a:t>
            </a:r>
            <a:endParaRPr lang="en-US" sz="2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· SUJET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: la conclusion de la slide en une phrase</a:t>
            </a:r>
            <a:endParaRPr lang="en-US" sz="2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8C9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organisme, document, 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8C96A8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393192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DE TRAVAIL · MOIS ANNÉE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19456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de la présentation</a:t>
            </a:r>
            <a:endParaRPr lang="en-US" sz="3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54864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promise, carried through.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412480" y="6263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DUBAÏ · 2026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73736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6974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de section</a:t>
            </a:r>
            <a:endParaRPr lang="en-US" sz="32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379476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la section démontre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C8CFDA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_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1097280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94560"/>
            <a:ext cx="7772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de clôture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379476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21945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Charte graphique Halden</a:t>
            </a:r>
            <a:endParaRPr lang="en-US" sz="34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4114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Règles de présentation PowerPoint</a:t>
            </a:r>
            <a:endParaRPr lang="en-US" sz="14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CHARTE V5 · OCTOBRE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slide Halden se lit en dix secondes : le titre donne la conclusion, le corps la prouve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PRINCIPES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36444" cy="868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54480"/>
            <a:ext cx="16763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</a:t>
            </a:r>
            <a:endParaRPr lang="en-US" sz="1200" dirty="0"/>
          </a:p>
        </p:txBody>
      </p:sp>
      <p:sp>
        <p:nvSpPr>
          <p:cNvPr id="8" name="Cellule"/>
          <p:cNvSpPr/>
          <p:nvPr/>
        </p:nvSpPr>
        <p:spPr>
          <a:xfrm>
            <a:off x="548640" y="2514600"/>
            <a:ext cx="2636444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587752"/>
            <a:ext cx="236212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phrase complète qui énonce la conclusion, deux lignes au plus. Les titres lus à la suite racontent toute l'histoire.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7964" y="1554480"/>
            <a:ext cx="2636444" cy="868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05124" y="1554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236644" y="1554480"/>
            <a:ext cx="16763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message par slide</a:t>
            </a:r>
            <a:endParaRPr lang="en-US" sz="1200" dirty="0"/>
          </a:p>
        </p:txBody>
      </p:sp>
      <p:sp>
        <p:nvSpPr>
          <p:cNvPr id="13" name="Cellule"/>
          <p:cNvSpPr/>
          <p:nvPr/>
        </p:nvSpPr>
        <p:spPr>
          <a:xfrm>
            <a:off x="3367964" y="2514600"/>
            <a:ext cx="2636444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05124" y="2587752"/>
            <a:ext cx="236212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idées font deux slides. Le corps ne contient que ce qui prouve le titre.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7288" y="1554480"/>
            <a:ext cx="2636444" cy="868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24448" y="1554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055968" y="1554480"/>
            <a:ext cx="16763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chiffre a sa source</a:t>
            </a:r>
            <a:endParaRPr lang="en-US" sz="1200" dirty="0"/>
          </a:p>
        </p:txBody>
      </p:sp>
      <p:sp>
        <p:nvSpPr>
          <p:cNvPr id="18" name="Cellule"/>
          <p:cNvSpPr/>
          <p:nvPr/>
        </p:nvSpPr>
        <p:spPr>
          <a:xfrm>
            <a:off x="6187288" y="2514600"/>
            <a:ext cx="2636444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24448" y="2587752"/>
            <a:ext cx="236212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organisme, un document, une date ; jamais notre propre brief. Ce qui n'est pas prouvé porte un sticker : HYPOTHÈSE, DÉMO · FICTIF, À TESTER.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611" y="1554480"/>
            <a:ext cx="2636444" cy="8686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3771" y="1554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875291" y="1554480"/>
            <a:ext cx="16763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bronze désigne l'essentiel</a:t>
            </a:r>
            <a:endParaRPr lang="en-US" sz="1200" dirty="0"/>
          </a:p>
        </p:txBody>
      </p:sp>
      <p:sp>
        <p:nvSpPr>
          <p:cNvPr id="23" name="Cellule"/>
          <p:cNvSpPr/>
          <p:nvPr/>
        </p:nvSpPr>
        <p:spPr>
          <a:xfrm>
            <a:off x="9006611" y="2514600"/>
            <a:ext cx="2636444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3771" y="2587752"/>
            <a:ext cx="236212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seule couleur d'accent, réservée à la donnée ou à l'option que le lecteur doit regarder en premier.</a:t>
            </a:r>
            <a:endParaRPr lang="en-US" sz="1100" dirty="0"/>
          </a:p>
        </p:txBody>
      </p:sp>
      <p:sp>
        <p:nvSpPr>
          <p:cNvPr id="25" name="Cadre"/>
          <p:cNvSpPr/>
          <p:nvPr/>
        </p:nvSpPr>
        <p:spPr>
          <a:xfrm>
            <a:off x="548640" y="4800600"/>
            <a:ext cx="11094415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80060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Positionnement 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rigueur d'un cabinet de conseil pour la structure, le registre du luxe à Dubaï pour le style : nuit, champagne, lignes de façade, beaucoup de blanc. Signature « Every promise, carried through. »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signature est un mot-symbole en capitales très espacées, posé sur blanc ou sur nuit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IDENTITÉ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logo est déjà placé sur chaque gabarit du template : ne pas le redessiner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55768" cy="2194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5455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1000" kern="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545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promise, carried through.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87288" y="1554480"/>
            <a:ext cx="5455768" cy="21945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87288" y="1554480"/>
            <a:ext cx="5455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100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HALDEN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187288" y="3063240"/>
            <a:ext cx="545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promise, carried through.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7764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ZONE DE PROTECTION</a:t>
            </a:r>
            <a:endParaRPr lang="en-US" sz="900" dirty="0"/>
          </a:p>
        </p:txBody>
      </p:sp>
      <p:sp>
        <p:nvSpPr>
          <p:cNvPr id="12" name="Filet"/>
          <p:cNvSpPr/>
          <p:nvPr/>
        </p:nvSpPr>
        <p:spPr>
          <a:xfrm>
            <a:off x="548640" y="4325112"/>
            <a:ext cx="2636444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434840"/>
            <a:ext cx="26364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espace libre égal à la hauteur des lettres autour du mot-symbole.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67964" y="397764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TAILLE MINIMALE</a:t>
            </a:r>
            <a:endParaRPr lang="en-US" sz="900" dirty="0"/>
          </a:p>
        </p:txBody>
      </p:sp>
      <p:sp>
        <p:nvSpPr>
          <p:cNvPr id="15" name="Filet"/>
          <p:cNvSpPr/>
          <p:nvPr/>
        </p:nvSpPr>
        <p:spPr>
          <a:xfrm>
            <a:off x="3367964" y="4325112"/>
            <a:ext cx="2636444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67964" y="4434840"/>
            <a:ext cx="26364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pt en pied de page ; 12 pt et plus en couverture.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87288" y="397764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 ARABE</a:t>
            </a:r>
            <a:endParaRPr lang="en-US" sz="900" dirty="0"/>
          </a:p>
        </p:txBody>
      </p:sp>
      <p:sp>
        <p:nvSpPr>
          <p:cNvPr id="18" name="Filet"/>
          <p:cNvSpPr/>
          <p:nvPr/>
        </p:nvSpPr>
        <p:spPr>
          <a:xfrm>
            <a:off x="6187288" y="4325112"/>
            <a:ext cx="2636444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87288" y="4434840"/>
            <a:ext cx="26364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 هالدن » en IBM Plex Sans Arabic, à droite sur les documents bilingues. Tout texte arabe relu par un arabophone natif.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006611" y="397764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ÉVITER</a:t>
            </a:r>
            <a:endParaRPr lang="en-US" sz="900" dirty="0"/>
          </a:p>
        </p:txBody>
      </p:sp>
      <p:sp>
        <p:nvSpPr>
          <p:cNvPr id="21" name="Filet"/>
          <p:cNvSpPr/>
          <p:nvPr/>
        </p:nvSpPr>
        <p:spPr>
          <a:xfrm>
            <a:off x="9006611" y="4325112"/>
            <a:ext cx="2636444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06611" y="4434840"/>
            <a:ext cx="26364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Changer la police, ajouter un effet, poser le logo sur une photo chargée.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palette part de la nuit de Dubaï ; le bronze et le champagne signent l'accent, jamais plus d'un par slide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COULEURS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Couleurs enregistrées dans le thème du template : Création &gt; Variantes &gt; Couleurs &gt; Halden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36444" cy="1005840"/>
          </a:xfrm>
          <a:prstGeom prst="rect">
            <a:avLst/>
          </a:prstGeom>
          <a:solidFill>
            <a:srgbClr val="0B1426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240280"/>
            <a:ext cx="2416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#0B1426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Nuit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26364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Fonds sombres, titres, texte, bandeaux, série principale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7964" y="1554480"/>
            <a:ext cx="2636444" cy="1005840"/>
          </a:xfrm>
          <a:prstGeom prst="rect">
            <a:avLst/>
          </a:prstGeom>
          <a:solidFill>
            <a:srgbClr val="8A6A3A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7692" y="2240280"/>
            <a:ext cx="2416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#8A6A3A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67964" y="265176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Bronze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367964" y="2926080"/>
            <a:ext cx="26364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L'accent : chiffre ou option à retenir ; sur-titres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7288" y="1554480"/>
            <a:ext cx="2636444" cy="1005840"/>
          </a:xfrm>
          <a:prstGeom prst="rect">
            <a:avLst/>
          </a:prstGeom>
          <a:solidFill>
            <a:srgbClr val="C9A86A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7016" y="2240280"/>
            <a:ext cx="2416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#C9A86A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87288" y="265176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Champagne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87288" y="2926080"/>
            <a:ext cx="26364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Filets et chiffres sur fond nuit ; jamais en fond sous un texte blanc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06611" y="1554480"/>
            <a:ext cx="2636444" cy="1005840"/>
          </a:xfrm>
          <a:prstGeom prst="rect">
            <a:avLst/>
          </a:prstGeom>
          <a:solidFill>
            <a:srgbClr val="3A4A63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16339" y="2240280"/>
            <a:ext cx="2416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#3A4A63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006611" y="265176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Ardoise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006611" y="2926080"/>
            <a:ext cx="26364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Bandeaux et barres secondaires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2636444" cy="1005840"/>
          </a:xfrm>
          <a:prstGeom prst="rect">
            <a:avLst/>
          </a:prstGeom>
          <a:solidFill>
            <a:srgbClr val="F4F5F7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4434840"/>
            <a:ext cx="2416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#F4F5F7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4632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Gris perle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20640"/>
            <a:ext cx="26364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Fond des cellules et panneaux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67964" y="3749040"/>
            <a:ext cx="2636444" cy="1005840"/>
          </a:xfrm>
          <a:prstGeom prst="rect">
            <a:avLst/>
          </a:prstGeom>
          <a:solidFill>
            <a:srgbClr val="CBD1DA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7692" y="4434840"/>
            <a:ext cx="2416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#CBD1DA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367964" y="484632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Gris graphique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367964" y="5120640"/>
            <a:ext cx="26364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Séries de contexte dans les graphiques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7288" y="3749040"/>
            <a:ext cx="2636444" cy="1005840"/>
          </a:xfrm>
          <a:prstGeom prst="rect">
            <a:avLst/>
          </a:prstGeom>
          <a:solidFill>
            <a:srgbClr val="5B6472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97016" y="4434840"/>
            <a:ext cx="2416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#5B6472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187288" y="484632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Gris texte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187288" y="5120640"/>
            <a:ext cx="26364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Légendes, sources, textes secondaires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06611" y="3749040"/>
            <a:ext cx="2636444" cy="1005840"/>
          </a:xfrm>
          <a:prstGeom prst="rect">
            <a:avLst/>
          </a:prstGeom>
          <a:solidFill>
            <a:srgbClr val="B42318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16339" y="4434840"/>
            <a:ext cx="2416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#B42318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006611" y="484632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Rouge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006611" y="5120640"/>
            <a:ext cx="26364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Alerte uniquement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Montserrat pour le latin, IBM Plex Sans Arabic pour l'arabe : une seule identité, du deck au site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TYPOGRAPHIE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polices gratuites (Google Fonts, licence OFL) à installer sur chaque poste. Le site haldennn.netlify.app doit reprendre les mêmes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931920" cy="44805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C9A8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Aa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Montserrat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Gras pour les titres et les chiffres. Capitales espacées pour les sur-titres et le logo. Regular pour le reste. L'arabe en IBM Plex Sans Arabic, aligné à droite.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ÉLÉMENT</a:t>
            </a:r>
            <a:endParaRPr lang="en-US" sz="900" dirty="0"/>
          </a:p>
        </p:txBody>
      </p:sp>
      <p:sp>
        <p:nvSpPr>
          <p:cNvPr id="10" name="Filet"/>
          <p:cNvSpPr/>
          <p:nvPr/>
        </p:nvSpPr>
        <p:spPr>
          <a:xfrm>
            <a:off x="4754880" y="1810512"/>
            <a:ext cx="2194560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RÈGLE</a:t>
            </a:r>
            <a:endParaRPr lang="en-US" sz="900" dirty="0"/>
          </a:p>
        </p:txBody>
      </p:sp>
      <p:sp>
        <p:nvSpPr>
          <p:cNvPr id="12" name="Filet"/>
          <p:cNvSpPr/>
          <p:nvPr/>
        </p:nvSpPr>
        <p:spPr>
          <a:xfrm>
            <a:off x="7132320" y="1810512"/>
            <a:ext cx="2377440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0" y="1463040"/>
            <a:ext cx="1950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</a:t>
            </a:r>
            <a:endParaRPr lang="en-US" sz="900" dirty="0"/>
          </a:p>
        </p:txBody>
      </p:sp>
      <p:sp>
        <p:nvSpPr>
          <p:cNvPr id="14" name="Filet"/>
          <p:cNvSpPr/>
          <p:nvPr/>
        </p:nvSpPr>
        <p:spPr>
          <a:xfrm>
            <a:off x="9692640" y="1810512"/>
            <a:ext cx="195041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15" name="Cellule"/>
          <p:cNvSpPr/>
          <p:nvPr/>
        </p:nvSpPr>
        <p:spPr>
          <a:xfrm>
            <a:off x="4754880" y="1920240"/>
            <a:ext cx="219456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19933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Sur-titre</a:t>
            </a:r>
            <a:endParaRPr lang="en-US" sz="1100" dirty="0"/>
          </a:p>
        </p:txBody>
      </p:sp>
      <p:sp>
        <p:nvSpPr>
          <p:cNvPr id="17" name="Cellule"/>
          <p:cNvSpPr/>
          <p:nvPr/>
        </p:nvSpPr>
        <p:spPr>
          <a:xfrm>
            <a:off x="7132320" y="1920240"/>
            <a:ext cx="237744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1993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Gras 9 pt, capitales espacées, bronze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1920240"/>
            <a:ext cx="1950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MARCHÉ OFF-PLAN DE DUBAÏ</a:t>
            </a:r>
            <a:endParaRPr lang="en-US" sz="900" dirty="0"/>
          </a:p>
        </p:txBody>
      </p:sp>
      <p:sp>
        <p:nvSpPr>
          <p:cNvPr id="20" name="Cellule"/>
          <p:cNvSpPr/>
          <p:nvPr/>
        </p:nvSpPr>
        <p:spPr>
          <a:xfrm>
            <a:off x="4754880" y="2523744"/>
            <a:ext cx="219456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25968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</a:t>
            </a:r>
            <a:endParaRPr lang="en-US" sz="1100" dirty="0"/>
          </a:p>
        </p:txBody>
      </p:sp>
      <p:sp>
        <p:nvSpPr>
          <p:cNvPr id="22" name="Cellule"/>
          <p:cNvSpPr/>
          <p:nvPr/>
        </p:nvSpPr>
        <p:spPr>
          <a:xfrm>
            <a:off x="7132320" y="2523744"/>
            <a:ext cx="237744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69480" y="25968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Gras 20 pt, nuit, 2 lignes max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2523744"/>
            <a:ext cx="1950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marché ralentit : chaque retard pèse plus</a:t>
            </a:r>
            <a:endParaRPr lang="en-US" sz="1500" dirty="0"/>
          </a:p>
        </p:txBody>
      </p:sp>
      <p:sp>
        <p:nvSpPr>
          <p:cNvPr id="25" name="Cellule"/>
          <p:cNvSpPr/>
          <p:nvPr/>
        </p:nvSpPr>
        <p:spPr>
          <a:xfrm>
            <a:off x="4754880" y="3127248"/>
            <a:ext cx="219456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92040" y="3200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En-tête de colonne</a:t>
            </a:r>
            <a:endParaRPr lang="en-US" sz="1100" dirty="0"/>
          </a:p>
        </p:txBody>
      </p:sp>
      <p:sp>
        <p:nvSpPr>
          <p:cNvPr id="27" name="Cellule"/>
          <p:cNvSpPr/>
          <p:nvPr/>
        </p:nvSpPr>
        <p:spPr>
          <a:xfrm>
            <a:off x="7132320" y="3127248"/>
            <a:ext cx="237744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69480" y="3200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Gras 9 pt, capitales, bronze, filet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127248"/>
            <a:ext cx="1950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CONSTAT</a:t>
            </a:r>
            <a:endParaRPr lang="en-US" sz="900" dirty="0"/>
          </a:p>
        </p:txBody>
      </p:sp>
      <p:sp>
        <p:nvSpPr>
          <p:cNvPr id="30" name="Cellule"/>
          <p:cNvSpPr/>
          <p:nvPr/>
        </p:nvSpPr>
        <p:spPr>
          <a:xfrm>
            <a:off x="4754880" y="3730752"/>
            <a:ext cx="219456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92040" y="38039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Chiffre clé</a:t>
            </a:r>
            <a:endParaRPr lang="en-US" sz="1100" dirty="0"/>
          </a:p>
        </p:txBody>
      </p:sp>
      <p:sp>
        <p:nvSpPr>
          <p:cNvPr id="32" name="Cellule"/>
          <p:cNvSpPr/>
          <p:nvPr/>
        </p:nvSpPr>
        <p:spPr>
          <a:xfrm>
            <a:off x="7132320" y="3730752"/>
            <a:ext cx="237744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69480" y="38039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Gras 30 pt, nuit ou bronze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692640" y="3730752"/>
            <a:ext cx="1950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686,8 Md</a:t>
            </a:r>
            <a:endParaRPr lang="en-US" sz="2400" dirty="0"/>
          </a:p>
        </p:txBody>
      </p:sp>
      <p:sp>
        <p:nvSpPr>
          <p:cNvPr id="35" name="Cellule"/>
          <p:cNvSpPr/>
          <p:nvPr/>
        </p:nvSpPr>
        <p:spPr>
          <a:xfrm>
            <a:off x="4754880" y="4334256"/>
            <a:ext cx="219456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892040" y="4407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Corps</a:t>
            </a:r>
            <a:endParaRPr lang="en-US" sz="1100" dirty="0"/>
          </a:p>
        </p:txBody>
      </p:sp>
      <p:sp>
        <p:nvSpPr>
          <p:cNvPr id="37" name="Cellule"/>
          <p:cNvSpPr/>
          <p:nvPr/>
        </p:nvSpPr>
        <p:spPr>
          <a:xfrm>
            <a:off x="7132320" y="4334256"/>
            <a:ext cx="237744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269480" y="44074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à 12 pt, nuit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692640" y="4334256"/>
            <a:ext cx="1950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Rien n'atteint un acheteur sans accord.</a:t>
            </a:r>
            <a:endParaRPr lang="en-US" sz="1100" dirty="0"/>
          </a:p>
        </p:txBody>
      </p:sp>
      <p:sp>
        <p:nvSpPr>
          <p:cNvPr id="40" name="Cellule"/>
          <p:cNvSpPr/>
          <p:nvPr/>
        </p:nvSpPr>
        <p:spPr>
          <a:xfrm>
            <a:off x="4754880" y="4937760"/>
            <a:ext cx="219456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892040" y="50109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</a:t>
            </a:r>
            <a:endParaRPr lang="en-US" sz="1100" dirty="0"/>
          </a:p>
        </p:txBody>
      </p:sp>
      <p:sp>
        <p:nvSpPr>
          <p:cNvPr id="42" name="Cellule"/>
          <p:cNvSpPr/>
          <p:nvPr/>
        </p:nvSpPr>
        <p:spPr>
          <a:xfrm>
            <a:off x="7132320" y="4937760"/>
            <a:ext cx="237744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269480" y="50109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pt, gris texte : le minimum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692640" y="4937760"/>
            <a:ext cx="1950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DXB Interact, 2025</a:t>
            </a:r>
            <a:endParaRPr lang="en-US" sz="900" dirty="0"/>
          </a:p>
        </p:txBody>
      </p:sp>
      <p:sp>
        <p:nvSpPr>
          <p:cNvPr id="45" name="Cellule"/>
          <p:cNvSpPr/>
          <p:nvPr/>
        </p:nvSpPr>
        <p:spPr>
          <a:xfrm>
            <a:off x="4754880" y="5541264"/>
            <a:ext cx="219456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892040" y="5614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Arabe</a:t>
            </a:r>
            <a:endParaRPr lang="en-US" sz="1100" dirty="0"/>
          </a:p>
        </p:txBody>
      </p:sp>
      <p:sp>
        <p:nvSpPr>
          <p:cNvPr id="47" name="Cellule"/>
          <p:cNvSpPr/>
          <p:nvPr/>
        </p:nvSpPr>
        <p:spPr>
          <a:xfrm>
            <a:off x="7132320" y="5541264"/>
            <a:ext cx="2377440" cy="53035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269480" y="56144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IBM Plex Sans Arabic, à droite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5541264"/>
            <a:ext cx="1950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tx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وعد، حتى يتحقق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Toutes les slides partagent la même anatomie ; seul le corps change d'une slide à l'autre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GRILLE ET ZONES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 16:9. Marges de 0,6 pouce, grille de 12 colonnes, gouttière de 0,2 pouce</a:t>
            </a:r>
            <a:endParaRPr lang="en-US" sz="900" dirty="0"/>
          </a:p>
        </p:txBody>
      </p:sp>
      <p:sp>
        <p:nvSpPr>
          <p:cNvPr id="5" name="Cadre"/>
          <p:cNvSpPr/>
          <p:nvPr/>
        </p:nvSpPr>
        <p:spPr>
          <a:xfrm>
            <a:off x="548640" y="1554480"/>
            <a:ext cx="6766560" cy="3806285"/>
          </a:xfrm>
          <a:prstGeom prst="rect">
            <a:avLst/>
          </a:prstGeom>
          <a:solidFill>
            <a:schemeClr val="bg1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3143" y="2417238"/>
            <a:ext cx="420087" cy="258827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Shape 5"/>
          <p:cNvSpPr/>
          <p:nvPr/>
        </p:nvSpPr>
        <p:spPr>
          <a:xfrm>
            <a:off x="1374731" y="2417238"/>
            <a:ext cx="420087" cy="258827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Shape 6"/>
          <p:cNvSpPr/>
          <p:nvPr/>
        </p:nvSpPr>
        <p:spPr>
          <a:xfrm>
            <a:off x="1896319" y="2417238"/>
            <a:ext cx="420087" cy="258827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2417907" y="2417238"/>
            <a:ext cx="420087" cy="258827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2939495" y="2417238"/>
            <a:ext cx="420087" cy="258827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3461083" y="2417238"/>
            <a:ext cx="420087" cy="258827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982670" y="2417238"/>
            <a:ext cx="420087" cy="258827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504258" y="2417238"/>
            <a:ext cx="420087" cy="258827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5846" y="2417238"/>
            <a:ext cx="420087" cy="258827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547434" y="2417238"/>
            <a:ext cx="420087" cy="258827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069022" y="2417238"/>
            <a:ext cx="420087" cy="258827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90610" y="2417238"/>
            <a:ext cx="420087" cy="2588274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53143" y="1909733"/>
            <a:ext cx="6157554" cy="416154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89719" y="1909733"/>
            <a:ext cx="274320" cy="41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53143" y="1737182"/>
            <a:ext cx="2537523" cy="152251"/>
          </a:xfrm>
          <a:prstGeom prst="rect">
            <a:avLst/>
          </a:prstGeom>
          <a:solidFill>
            <a:srgbClr val="8A6A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89719" y="1737182"/>
            <a:ext cx="27432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3143" y="2417238"/>
            <a:ext cx="6157554" cy="2588274"/>
          </a:xfrm>
          <a:prstGeom prst="rect">
            <a:avLst/>
          </a:prstGeom>
          <a:solidFill>
            <a:srgbClr val="CBD1D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89719" y="2417238"/>
            <a:ext cx="274320" cy="2588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53143" y="5107013"/>
            <a:ext cx="659756" cy="152251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89719" y="5107013"/>
            <a:ext cx="27432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563649" y="5107013"/>
            <a:ext cx="4973546" cy="152251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600225" y="5107013"/>
            <a:ext cx="27432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55422" y="5107013"/>
            <a:ext cx="253752" cy="152251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91998" y="5107013"/>
            <a:ext cx="27432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80960" y="1554480"/>
            <a:ext cx="411480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80960" y="15544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Cellule"/>
          <p:cNvSpPr/>
          <p:nvPr/>
        </p:nvSpPr>
        <p:spPr>
          <a:xfrm>
            <a:off x="8138160" y="1554480"/>
            <a:ext cx="3504895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47888" y="1554480"/>
            <a:ext cx="3322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d'action 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conclusion, en une phrase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80960" y="2176272"/>
            <a:ext cx="411480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80960" y="21762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Cellule"/>
          <p:cNvSpPr/>
          <p:nvPr/>
        </p:nvSpPr>
        <p:spPr>
          <a:xfrm>
            <a:off x="8138160" y="2176272"/>
            <a:ext cx="3504895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47888" y="2176272"/>
            <a:ext cx="3322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Sur-titre 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sujet, en capitales espacées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80960" y="2798064"/>
            <a:ext cx="411480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680960" y="279806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Cellule"/>
          <p:cNvSpPr/>
          <p:nvPr/>
        </p:nvSpPr>
        <p:spPr>
          <a:xfrm>
            <a:off x="8138160" y="2798064"/>
            <a:ext cx="3504895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47888" y="2798064"/>
            <a:ext cx="3322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Corps 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Aligné sur les 12 colonnes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80960" y="3419856"/>
            <a:ext cx="411480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680960" y="341985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Cellule"/>
          <p:cNvSpPr/>
          <p:nvPr/>
        </p:nvSpPr>
        <p:spPr>
          <a:xfrm>
            <a:off x="8138160" y="3419856"/>
            <a:ext cx="3504895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247888" y="3419856"/>
            <a:ext cx="3322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 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Fixé sur le gabarit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680960" y="4041648"/>
            <a:ext cx="411480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680960" y="40416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Cellule"/>
          <p:cNvSpPr/>
          <p:nvPr/>
        </p:nvSpPr>
        <p:spPr>
          <a:xfrm>
            <a:off x="8138160" y="4041648"/>
            <a:ext cx="3504895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247888" y="4041648"/>
            <a:ext cx="3322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Obligatoire dès qu'un chiffre apparaît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680960" y="4663440"/>
            <a:ext cx="411480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680960" y="46634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Cellule"/>
          <p:cNvSpPr/>
          <p:nvPr/>
        </p:nvSpPr>
        <p:spPr>
          <a:xfrm>
            <a:off x="8138160" y="4663440"/>
            <a:ext cx="3504895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247888" y="4663440"/>
            <a:ext cx="3322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Numéro 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Automatique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titre d'action dit ce que le lecteur doit retenir ; un titre-sujet l'oblige à deviner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: en lisant seulement les titres du deck, dans l'ordre, on comprend toute la recommandation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45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231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ÉVITER : TITRE-SUJET</a:t>
            </a:r>
            <a:endParaRPr lang="en-US" sz="900" dirty="0"/>
          </a:p>
        </p:txBody>
      </p:sp>
      <p:sp>
        <p:nvSpPr>
          <p:cNvPr id="6" name="Filet"/>
          <p:cNvSpPr/>
          <p:nvPr/>
        </p:nvSpPr>
        <p:spPr>
          <a:xfrm>
            <a:off x="548640" y="1810512"/>
            <a:ext cx="5455768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87288" y="1463040"/>
            <a:ext cx="545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FAIRE : TITRE D'ACTION</a:t>
            </a:r>
            <a:endParaRPr lang="en-US" sz="900" dirty="0"/>
          </a:p>
        </p:txBody>
      </p:sp>
      <p:sp>
        <p:nvSpPr>
          <p:cNvPr id="8" name="Filet"/>
          <p:cNvSpPr/>
          <p:nvPr/>
        </p:nvSpPr>
        <p:spPr>
          <a:xfrm>
            <a:off x="6187288" y="1810512"/>
            <a:ext cx="5455768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9" name="Cellule"/>
          <p:cNvSpPr/>
          <p:nvPr/>
        </p:nvSpPr>
        <p:spPr>
          <a:xfrm>
            <a:off x="548640" y="1965960"/>
            <a:ext cx="5455768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039112"/>
            <a:ext cx="5181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Marché</a:t>
            </a:r>
            <a:endParaRPr lang="en-US" sz="1300" dirty="0"/>
          </a:p>
        </p:txBody>
      </p:sp>
      <p:sp>
        <p:nvSpPr>
          <p:cNvPr id="11" name="Cadre"/>
          <p:cNvSpPr/>
          <p:nvPr/>
        </p:nvSpPr>
        <p:spPr>
          <a:xfrm>
            <a:off x="6187288" y="1965960"/>
            <a:ext cx="5455768" cy="749808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24448" y="1965960"/>
            <a:ext cx="518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marché off-plan reste massif mais ralentit : chaque retard de paiement pèse davantage</a:t>
            </a:r>
            <a:endParaRPr lang="en-US" sz="1100" dirty="0"/>
          </a:p>
        </p:txBody>
      </p:sp>
      <p:sp>
        <p:nvSpPr>
          <p:cNvPr id="13" name="Cellule"/>
          <p:cNvSpPr/>
          <p:nvPr/>
        </p:nvSpPr>
        <p:spPr>
          <a:xfrm>
            <a:off x="548640" y="2834640"/>
            <a:ext cx="5455768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907792"/>
            <a:ext cx="5181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Concurrence</a:t>
            </a:r>
            <a:endParaRPr lang="en-US" sz="1300" dirty="0"/>
          </a:p>
        </p:txBody>
      </p:sp>
      <p:sp>
        <p:nvSpPr>
          <p:cNvPr id="15" name="Cadre"/>
          <p:cNvSpPr/>
          <p:nvPr/>
        </p:nvSpPr>
        <p:spPr>
          <a:xfrm>
            <a:off x="6187288" y="2834640"/>
            <a:ext cx="5455768" cy="749808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4448" y="2834640"/>
            <a:ext cx="518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ERP gèrent déjà les relances ; Halden fait le travail que l'ERP laisse à l'équipe</a:t>
            </a:r>
            <a:endParaRPr lang="en-US" sz="1100" dirty="0"/>
          </a:p>
        </p:txBody>
      </p:sp>
      <p:sp>
        <p:nvSpPr>
          <p:cNvPr id="17" name="Cellule"/>
          <p:cNvSpPr/>
          <p:nvPr/>
        </p:nvSpPr>
        <p:spPr>
          <a:xfrm>
            <a:off x="548640" y="3703320"/>
            <a:ext cx="5455768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776472"/>
            <a:ext cx="5181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Résultats de la démo</a:t>
            </a:r>
            <a:endParaRPr lang="en-US" sz="1300" dirty="0"/>
          </a:p>
        </p:txBody>
      </p:sp>
      <p:sp>
        <p:nvSpPr>
          <p:cNvPr id="19" name="Cadre"/>
          <p:cNvSpPr/>
          <p:nvPr/>
        </p:nvSpPr>
        <p:spPr>
          <a:xfrm>
            <a:off x="6187288" y="3703320"/>
            <a:ext cx="5455768" cy="749808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24448" y="3703320"/>
            <a:ext cx="518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Dans notre démo, 14 virements sur 19 sont rapprochés sans humain</a:t>
            </a:r>
            <a:endParaRPr lang="en-US" sz="1100" dirty="0"/>
          </a:p>
        </p:txBody>
      </p:sp>
      <p:sp>
        <p:nvSpPr>
          <p:cNvPr id="21" name="Cellule"/>
          <p:cNvSpPr/>
          <p:nvPr/>
        </p:nvSpPr>
        <p:spPr>
          <a:xfrm>
            <a:off x="548640" y="4572000"/>
            <a:ext cx="5455768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645152"/>
            <a:ext cx="5181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</a:t>
            </a:r>
            <a:endParaRPr lang="en-US" sz="1300" dirty="0"/>
          </a:p>
        </p:txBody>
      </p:sp>
      <p:sp>
        <p:nvSpPr>
          <p:cNvPr id="23" name="Cadre"/>
          <p:cNvSpPr/>
          <p:nvPr/>
        </p:nvSpPr>
        <p:spPr>
          <a:xfrm>
            <a:off x="6187288" y="4572000"/>
            <a:ext cx="5455768" cy="749808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4448" y="4572000"/>
            <a:ext cx="518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D'ici 90 jours : un promoteur qui accepte un shadow run sur son prochain jalon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phrase avec un verbe, au présent, sans point final.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chiffre inventé n'apparaît jamais dans un titre sans « dans notre démo ».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sur-titre bronze donne le sujet ; le titre donne la conclusion.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graphique Halden met une seule donnée en nuit ou en bronze et retire tout le reste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GRAPHIQUES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 : POC Halden v0.2, démo sur données fictives. Graphiques natifs PowerPoint, modifiables</a:t>
            </a:r>
            <a:endParaRPr lang="en-US" sz="900" dirty="0"/>
          </a:p>
        </p:txBody>
      </p:sp>
      <p:sp>
        <p:nvSpPr>
          <p:cNvPr id="5" name="Sticker"/>
          <p:cNvSpPr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71455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VIREMENTS PAR RÉSULTAT DU RAPPROCHEMENT, NOMBRE (DÉMO)</a:t>
            </a:r>
            <a:endParaRPr lang="en-US" sz="900" dirty="0"/>
          </a:p>
        </p:txBody>
      </p:sp>
      <p:sp>
        <p:nvSpPr>
          <p:cNvPr id="8" name="Filet"/>
          <p:cNvSpPr/>
          <p:nvPr/>
        </p:nvSpPr>
        <p:spPr>
          <a:xfrm>
            <a:off x="548640" y="1810512"/>
            <a:ext cx="6035040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548640" y="192024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949440" y="1554480"/>
            <a:ext cx="411480" cy="7772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49440" y="155448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Cellule"/>
          <p:cNvSpPr/>
          <p:nvPr/>
        </p:nvSpPr>
        <p:spPr>
          <a:xfrm>
            <a:off x="7406640" y="1554480"/>
            <a:ext cx="423641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516368" y="1554480"/>
            <a:ext cx="4007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 du graphique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est mesuré et l'unité, en sur-titre bronze avec filet.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49440" y="2441448"/>
            <a:ext cx="411480" cy="7772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49440" y="2441448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Cellule"/>
          <p:cNvSpPr/>
          <p:nvPr/>
        </p:nvSpPr>
        <p:spPr>
          <a:xfrm>
            <a:off x="7406640" y="2441448"/>
            <a:ext cx="423641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516368" y="2441448"/>
            <a:ext cx="4007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donnée mise en avant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Nuit ou bronze pour la donnée du titre, gris pour le contexte.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49440" y="3328416"/>
            <a:ext cx="411480" cy="7772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49440" y="3328416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Cellule"/>
          <p:cNvSpPr/>
          <p:nvPr/>
        </p:nvSpPr>
        <p:spPr>
          <a:xfrm>
            <a:off x="7406640" y="3328416"/>
            <a:ext cx="423641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516368" y="3328416"/>
            <a:ext cx="4007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Étiquettes directes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Valeurs sur les barres ; ni axe vertical ni quadrillage.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949440" y="4215384"/>
            <a:ext cx="411480" cy="7772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949440" y="4215384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Cellule"/>
          <p:cNvSpPr/>
          <p:nvPr/>
        </p:nvSpPr>
        <p:spPr>
          <a:xfrm>
            <a:off x="7406640" y="4215384"/>
            <a:ext cx="423641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516368" y="4215384"/>
            <a:ext cx="4007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Commentaire à droite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cadre fin avec le message du graphique en trois puces.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949440" y="5102352"/>
            <a:ext cx="411480" cy="77724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949440" y="510235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Cellule"/>
          <p:cNvSpPr/>
          <p:nvPr/>
        </p:nvSpPr>
        <p:spPr>
          <a:xfrm>
            <a:off x="7406640" y="5102352"/>
            <a:ext cx="423641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516368" y="5102352"/>
            <a:ext cx="4007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Jamais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3D, ombres, dégradés, légendes inutiles, camemberts à plus de trois parts.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boîte à outils courte donne au deck sa cohérence, sans aucune décoration superflue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ÉLÉMENTS RÉCURRENTS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Tous ces éléments sont prêts à copier dans le template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BANDEAU ET CELLULES</a:t>
            </a:r>
            <a:endParaRPr lang="en-US" sz="900" dirty="0"/>
          </a:p>
        </p:txBody>
      </p:sp>
      <p:sp>
        <p:nvSpPr>
          <p:cNvPr id="6" name="Filet"/>
          <p:cNvSpPr/>
          <p:nvPr/>
        </p:nvSpPr>
        <p:spPr>
          <a:xfrm>
            <a:off x="548640" y="1810512"/>
            <a:ext cx="3576218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7" name="Bandeau"/>
          <p:cNvSpPr/>
          <p:nvPr/>
        </p:nvSpPr>
        <p:spPr>
          <a:xfrm>
            <a:off x="548640" y="1965960"/>
            <a:ext cx="3576218" cy="365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965960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BANDEAU NUIT</a:t>
            </a:r>
            <a:endParaRPr lang="en-US" sz="900" dirty="0"/>
          </a:p>
        </p:txBody>
      </p:sp>
      <p:sp>
        <p:nvSpPr>
          <p:cNvPr id="9" name="Cellule"/>
          <p:cNvSpPr/>
          <p:nvPr/>
        </p:nvSpPr>
        <p:spPr>
          <a:xfrm>
            <a:off x="548640" y="2377440"/>
            <a:ext cx="3576218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450592"/>
            <a:ext cx="33018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Cellule grise : contenu d'un tableau ou d'une carte</a:t>
            </a:r>
            <a:endParaRPr lang="en-US" sz="1000" dirty="0"/>
          </a:p>
        </p:txBody>
      </p:sp>
      <p:sp>
        <p:nvSpPr>
          <p:cNvPr id="11" name="Cadre"/>
          <p:cNvSpPr/>
          <p:nvPr/>
        </p:nvSpPr>
        <p:spPr>
          <a:xfrm>
            <a:off x="548640" y="3108960"/>
            <a:ext cx="3576218" cy="640080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0896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Cadre fin : commentaire ou message clé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07738" y="1463040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STATUTS</a:t>
            </a:r>
            <a:endParaRPr lang="en-US" sz="900" dirty="0"/>
          </a:p>
        </p:txBody>
      </p:sp>
      <p:sp>
        <p:nvSpPr>
          <p:cNvPr id="14" name="Filet"/>
          <p:cNvSpPr/>
          <p:nvPr/>
        </p:nvSpPr>
        <p:spPr>
          <a:xfrm>
            <a:off x="4307738" y="1810512"/>
            <a:ext cx="3576218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15" name="Statut"/>
          <p:cNvSpPr/>
          <p:nvPr/>
        </p:nvSpPr>
        <p:spPr>
          <a:xfrm>
            <a:off x="4307738" y="1965960"/>
            <a:ext cx="1463040" cy="237744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07738" y="1965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STOPPÉ</a:t>
            </a:r>
            <a:endParaRPr lang="en-US" sz="900" dirty="0"/>
          </a:p>
        </p:txBody>
      </p:sp>
      <p:sp>
        <p:nvSpPr>
          <p:cNvPr id="17" name="Statut"/>
          <p:cNvSpPr/>
          <p:nvPr/>
        </p:nvSpPr>
        <p:spPr>
          <a:xfrm>
            <a:off x="4307738" y="2404872"/>
            <a:ext cx="1463040" cy="237744"/>
          </a:xfrm>
          <a:prstGeom prst="rect">
            <a:avLst/>
          </a:prstGeom>
          <a:solidFill>
            <a:srgbClr val="8A6A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07738" y="24048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VÉRIFIER</a:t>
            </a:r>
            <a:endParaRPr lang="en-US" sz="900" dirty="0"/>
          </a:p>
        </p:txBody>
      </p:sp>
      <p:sp>
        <p:nvSpPr>
          <p:cNvPr id="19" name="Statut"/>
          <p:cNvSpPr/>
          <p:nvPr/>
        </p:nvSpPr>
        <p:spPr>
          <a:xfrm>
            <a:off x="4307738" y="2843784"/>
            <a:ext cx="1463040" cy="237744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07738" y="2843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DÉCIDER</a:t>
            </a:r>
            <a:endParaRPr lang="en-US" sz="900" dirty="0"/>
          </a:p>
        </p:txBody>
      </p:sp>
      <p:sp>
        <p:nvSpPr>
          <p:cNvPr id="21" name="Statut"/>
          <p:cNvSpPr/>
          <p:nvPr/>
        </p:nvSpPr>
        <p:spPr>
          <a:xfrm>
            <a:off x="4307738" y="3282696"/>
            <a:ext cx="1463040" cy="237744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07738" y="32826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066837" y="1463040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STICKERS</a:t>
            </a:r>
            <a:endParaRPr lang="en-US" sz="900" dirty="0"/>
          </a:p>
        </p:txBody>
      </p:sp>
      <p:sp>
        <p:nvSpPr>
          <p:cNvPr id="24" name="Filet"/>
          <p:cNvSpPr/>
          <p:nvPr/>
        </p:nvSpPr>
        <p:spPr>
          <a:xfrm>
            <a:off x="8066837" y="1810512"/>
            <a:ext cx="3576218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6837" y="1965960"/>
            <a:ext cx="146304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66837" y="1965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66837" y="2404872"/>
            <a:ext cx="146304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66837" y="24048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DÉMO · FICTIF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66837" y="2843784"/>
            <a:ext cx="1463040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66837" y="2843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TESTER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023360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CHIFFRE CLÉ</a:t>
            </a:r>
            <a:endParaRPr lang="en-US" sz="900" dirty="0"/>
          </a:p>
        </p:txBody>
      </p:sp>
      <p:sp>
        <p:nvSpPr>
          <p:cNvPr id="32" name="Filet"/>
          <p:cNvSpPr/>
          <p:nvPr/>
        </p:nvSpPr>
        <p:spPr>
          <a:xfrm>
            <a:off x="548640" y="4370832"/>
            <a:ext cx="3576218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33" name="Cellule"/>
          <p:cNvSpPr/>
          <p:nvPr/>
        </p:nvSpPr>
        <p:spPr>
          <a:xfrm>
            <a:off x="548640" y="4526280"/>
            <a:ext cx="3576218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520" y="457200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19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530352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virements rapprochés sans humain, dans notre démo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307738" y="4023360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NUMÉROS ET REPÈRES</a:t>
            </a:r>
            <a:endParaRPr lang="en-US" sz="900" dirty="0"/>
          </a:p>
        </p:txBody>
      </p:sp>
      <p:sp>
        <p:nvSpPr>
          <p:cNvPr id="37" name="Filet"/>
          <p:cNvSpPr/>
          <p:nvPr/>
        </p:nvSpPr>
        <p:spPr>
          <a:xfrm>
            <a:off x="4307738" y="4370832"/>
            <a:ext cx="3576218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07738" y="4526280"/>
            <a:ext cx="822960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417466" y="45262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5222138" y="4526280"/>
            <a:ext cx="82296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331866" y="45262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6136538" y="4526280"/>
            <a:ext cx="82296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46266" y="45262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44" name="Repère"/>
          <p:cNvSpPr/>
          <p:nvPr/>
        </p:nvSpPr>
        <p:spPr>
          <a:xfrm>
            <a:off x="4390034" y="5568696"/>
            <a:ext cx="109728" cy="10972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5" name="Repère"/>
          <p:cNvSpPr/>
          <p:nvPr/>
        </p:nvSpPr>
        <p:spPr>
          <a:xfrm>
            <a:off x="4847234" y="5568696"/>
            <a:ext cx="109728" cy="10972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6" name="Repère"/>
          <p:cNvSpPr/>
          <p:nvPr/>
        </p:nvSpPr>
        <p:spPr>
          <a:xfrm>
            <a:off x="5304434" y="5568696"/>
            <a:ext cx="109728" cy="10972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066837" y="4023360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ICÔNES</a:t>
            </a:r>
            <a:endParaRPr lang="en-US" sz="900" dirty="0"/>
          </a:p>
        </p:txBody>
      </p:sp>
      <p:sp>
        <p:nvSpPr>
          <p:cNvPr id="48" name="Filet"/>
          <p:cNvSpPr/>
          <p:nvPr/>
        </p:nvSpPr>
        <p:spPr>
          <a:xfrm>
            <a:off x="8066837" y="4370832"/>
            <a:ext cx="3576218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49" name="Icône"/>
          <p:cNvSpPr/>
          <p:nvPr/>
        </p:nvSpPr>
        <p:spPr>
          <a:xfrm>
            <a:off x="8066837" y="4526280"/>
            <a:ext cx="640080" cy="6400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50" name="Image 0" descr="File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7654" y="4667098"/>
            <a:ext cx="358445" cy="358445"/>
          </a:xfrm>
          <a:prstGeom prst="rect">
            <a:avLst/>
          </a:prstGeom>
        </p:spPr>
      </p:pic>
      <p:sp>
        <p:nvSpPr>
          <p:cNvPr id="51" name="Icône"/>
          <p:cNvSpPr/>
          <p:nvPr/>
        </p:nvSpPr>
        <p:spPr>
          <a:xfrm>
            <a:off x="8844077" y="4526280"/>
            <a:ext cx="640080" cy="6400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52" name="Image 1" descr="Rep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894" y="4667098"/>
            <a:ext cx="358445" cy="358445"/>
          </a:xfrm>
          <a:prstGeom prst="rect">
            <a:avLst/>
          </a:prstGeom>
        </p:spPr>
      </p:pic>
      <p:sp>
        <p:nvSpPr>
          <p:cNvPr id="53" name="Icône"/>
          <p:cNvSpPr/>
          <p:nvPr/>
        </p:nvSpPr>
        <p:spPr>
          <a:xfrm>
            <a:off x="9621317" y="4526280"/>
            <a:ext cx="640080" cy="6400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54" name="Image 2" descr="Be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134" y="4667098"/>
            <a:ext cx="358445" cy="358445"/>
          </a:xfrm>
          <a:prstGeom prst="rect">
            <a:avLst/>
          </a:prstGeom>
        </p:spPr>
      </p:pic>
      <p:sp>
        <p:nvSpPr>
          <p:cNvPr id="55" name="Icône"/>
          <p:cNvSpPr/>
          <p:nvPr/>
        </p:nvSpPr>
        <p:spPr>
          <a:xfrm>
            <a:off x="10398557" y="4526280"/>
            <a:ext cx="640080" cy="6400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56" name="Image 3" descr="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9374" y="4667098"/>
            <a:ext cx="358445" cy="358445"/>
          </a:xfrm>
          <a:prstGeom prst="rect">
            <a:avLst/>
          </a:prstGeom>
        </p:spPr>
      </p:pic>
      <p:sp>
        <p:nvSpPr>
          <p:cNvPr id="57" name="Text 51"/>
          <p:cNvSpPr txBox="1"/>
          <p:nvPr/>
        </p:nvSpPr>
        <p:spPr>
          <a:xfrm>
            <a:off x="8066837" y="5303520"/>
            <a:ext cx="3576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Trait fin nuit dans un carré gris perle, ou champagne sur fond nuit. Toujours avec un intitulé.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template fournit cinq gabarits et 28 modèles : on part d'un modèle, jamais d'une page blanche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GABARITS ET MODÈLES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Fichier Halden_Template_v5.pptx · Accueil &gt; Nouvelle diapositive pour choisir un gabarit</a:t>
            </a:r>
            <a:endParaRPr lang="en-US" sz="900" dirty="0"/>
          </a:p>
        </p:txBody>
      </p:sp>
      <p:pic>
        <p:nvPicPr>
          <p:cNvPr id="5" name="Image 0" descr="Fond nu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072579" cy="11658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2044127"/>
            <a:ext cx="1139918" cy="91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2277292"/>
            <a:ext cx="36576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766026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Couverture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H_COVER</a:t>
            </a:r>
            <a:endParaRPr lang="en-US" sz="1100" dirty="0"/>
          </a:p>
        </p:txBody>
      </p:sp>
      <p:pic>
        <p:nvPicPr>
          <p:cNvPr id="9" name="Image 1" descr="Fond nu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99" y="1554480"/>
            <a:ext cx="2072579" cy="116582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86979" y="2044127"/>
            <a:ext cx="1139918" cy="91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Shape 7"/>
          <p:cNvSpPr/>
          <p:nvPr/>
        </p:nvSpPr>
        <p:spPr>
          <a:xfrm>
            <a:off x="2986979" y="2277292"/>
            <a:ext cx="36576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804099" y="2766026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Intercalaire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H_DIVIDER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59558" y="1554480"/>
            <a:ext cx="2072579" cy="1165826"/>
          </a:xfrm>
          <a:prstGeom prst="rect">
            <a:avLst/>
          </a:prstGeom>
          <a:solidFill>
            <a:schemeClr val="bg1"/>
          </a:solidFill>
          <a:ln w="9525">
            <a:solidFill>
              <a:srgbClr val="D5D8D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42438" y="1828800"/>
            <a:ext cx="1139918" cy="91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5" name="Shape 11"/>
          <p:cNvSpPr/>
          <p:nvPr/>
        </p:nvSpPr>
        <p:spPr>
          <a:xfrm>
            <a:off x="5242438" y="1691640"/>
            <a:ext cx="518145" cy="45720"/>
          </a:xfrm>
          <a:prstGeom prst="rect">
            <a:avLst/>
          </a:prstGeom>
          <a:solidFill>
            <a:srgbClr val="8A6A3A"/>
          </a:solidFill>
          <a:ln/>
        </p:spPr>
      </p:sp>
      <p:sp>
        <p:nvSpPr>
          <p:cNvPr id="16" name="Shape 12"/>
          <p:cNvSpPr/>
          <p:nvPr/>
        </p:nvSpPr>
        <p:spPr>
          <a:xfrm>
            <a:off x="5242438" y="2103120"/>
            <a:ext cx="1706819" cy="38858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059558" y="2766026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Contenu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H_CONTENT</a:t>
            </a:r>
            <a:endParaRPr lang="en-US" sz="1100" dirty="0"/>
          </a:p>
        </p:txBody>
      </p:sp>
      <p:pic>
        <p:nvPicPr>
          <p:cNvPr id="18" name="Image 2" descr="Fond nu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1554480"/>
            <a:ext cx="2072579" cy="116582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97897" y="2044127"/>
            <a:ext cx="1139918" cy="91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7897" y="2277292"/>
            <a:ext cx="36576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15017" y="2766026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Contenu sombre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H_DARK</a:t>
            </a:r>
            <a:endParaRPr lang="en-US" sz="1100" dirty="0"/>
          </a:p>
        </p:txBody>
      </p:sp>
      <p:pic>
        <p:nvPicPr>
          <p:cNvPr id="22" name="Image 3" descr="Fond nui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0476" y="1554480"/>
            <a:ext cx="2072579" cy="116582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753356" y="2044127"/>
            <a:ext cx="1139918" cy="91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4" name="Shape 18"/>
          <p:cNvSpPr/>
          <p:nvPr/>
        </p:nvSpPr>
        <p:spPr>
          <a:xfrm>
            <a:off x="9753356" y="2277292"/>
            <a:ext cx="365760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570476" y="2766026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Clôture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H_END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3657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MODÈLES PRÊTS À REMPLIR : CLASSIQUES, PUIS IMPACT (FOND NUIT, CHIFFRES GÉANTS, MORPH)</a:t>
            </a:r>
            <a:endParaRPr lang="en-US" sz="900" dirty="0"/>
          </a:p>
        </p:txBody>
      </p:sp>
      <p:sp>
        <p:nvSpPr>
          <p:cNvPr id="27" name="Filet"/>
          <p:cNvSpPr/>
          <p:nvPr/>
        </p:nvSpPr>
        <p:spPr>
          <a:xfrm>
            <a:off x="548640" y="4005072"/>
            <a:ext cx="11094415" cy="0"/>
          </a:xfrm>
          <a:prstGeom prst="line">
            <a:avLst/>
          </a:prstGeom>
          <a:noFill/>
          <a:ln w="6350">
            <a:solidFill>
              <a:srgbClr val="0B1426"/>
            </a:solidFill>
            <a:prstDash val="solid"/>
          </a:ln>
        </p:spPr>
      </p:sp>
      <p:sp>
        <p:nvSpPr>
          <p:cNvPr id="28" name="Cellule"/>
          <p:cNvSpPr/>
          <p:nvPr/>
        </p:nvSpPr>
        <p:spPr>
          <a:xfrm>
            <a:off x="548640" y="4160520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685800" y="4233672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Sommaire</a:t>
            </a:r>
            <a:endParaRPr lang="en-US" sz="900" dirty="0"/>
          </a:p>
        </p:txBody>
      </p:sp>
      <p:sp>
        <p:nvSpPr>
          <p:cNvPr id="30" name="Cellule"/>
          <p:cNvSpPr/>
          <p:nvPr/>
        </p:nvSpPr>
        <p:spPr>
          <a:xfrm>
            <a:off x="2146619" y="4160520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2283779" y="4233672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Synthèse SCR</a:t>
            </a:r>
            <a:endParaRPr lang="en-US" sz="900" dirty="0"/>
          </a:p>
        </p:txBody>
      </p:sp>
      <p:sp>
        <p:nvSpPr>
          <p:cNvPr id="32" name="Cellule"/>
          <p:cNvSpPr/>
          <p:nvPr/>
        </p:nvSpPr>
        <p:spPr>
          <a:xfrm>
            <a:off x="3744599" y="4160520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3881759" y="4233672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Points clés</a:t>
            </a:r>
            <a:endParaRPr lang="en-US" sz="900" dirty="0"/>
          </a:p>
        </p:txBody>
      </p:sp>
      <p:sp>
        <p:nvSpPr>
          <p:cNvPr id="34" name="Cellule"/>
          <p:cNvSpPr/>
          <p:nvPr/>
        </p:nvSpPr>
        <p:spPr>
          <a:xfrm>
            <a:off x="5342578" y="4160520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5479738" y="4233672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36" name="Cellule"/>
          <p:cNvSpPr/>
          <p:nvPr/>
        </p:nvSpPr>
        <p:spPr>
          <a:xfrm>
            <a:off x="6940557" y="4160520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7077717" y="4233672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Graphique + commentaire</a:t>
            </a:r>
            <a:endParaRPr lang="en-US" sz="900" dirty="0"/>
          </a:p>
        </p:txBody>
      </p:sp>
      <p:sp>
        <p:nvSpPr>
          <p:cNvPr id="38" name="Cellule"/>
          <p:cNvSpPr/>
          <p:nvPr/>
        </p:nvSpPr>
        <p:spPr>
          <a:xfrm>
            <a:off x="8538537" y="4160520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675697" y="4233672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comparatif</a:t>
            </a:r>
            <a:endParaRPr lang="en-US" sz="900" dirty="0"/>
          </a:p>
        </p:txBody>
      </p:sp>
      <p:sp>
        <p:nvSpPr>
          <p:cNvPr id="40" name="Cellule"/>
          <p:cNvSpPr/>
          <p:nvPr/>
        </p:nvSpPr>
        <p:spPr>
          <a:xfrm>
            <a:off x="10136516" y="4160520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10273676" y="4233672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Processus en étapes</a:t>
            </a:r>
            <a:endParaRPr lang="en-US" sz="900" dirty="0"/>
          </a:p>
        </p:txBody>
      </p:sp>
      <p:sp>
        <p:nvSpPr>
          <p:cNvPr id="42" name="Cellule"/>
          <p:cNvSpPr/>
          <p:nvPr/>
        </p:nvSpPr>
        <p:spPr>
          <a:xfrm>
            <a:off x="548640" y="4681728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685800" y="4754880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Matrice 2 × 2</a:t>
            </a:r>
            <a:endParaRPr lang="en-US" sz="900" dirty="0"/>
          </a:p>
        </p:txBody>
      </p:sp>
      <p:sp>
        <p:nvSpPr>
          <p:cNvPr id="44" name="Cellule"/>
          <p:cNvSpPr/>
          <p:nvPr/>
        </p:nvSpPr>
        <p:spPr>
          <a:xfrm>
            <a:off x="2146619" y="4681728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2283779" y="4754880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Feuille de route</a:t>
            </a:r>
            <a:endParaRPr lang="en-US" sz="900" dirty="0"/>
          </a:p>
        </p:txBody>
      </p:sp>
      <p:sp>
        <p:nvSpPr>
          <p:cNvPr id="46" name="Cellule"/>
          <p:cNvSpPr/>
          <p:nvPr/>
        </p:nvSpPr>
        <p:spPr>
          <a:xfrm>
            <a:off x="3744599" y="4681728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3881759" y="4754880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Arbre de valeur</a:t>
            </a:r>
            <a:endParaRPr lang="en-US" sz="900" dirty="0"/>
          </a:p>
        </p:txBody>
      </p:sp>
      <p:sp>
        <p:nvSpPr>
          <p:cNvPr id="48" name="Cellule"/>
          <p:cNvSpPr/>
          <p:nvPr/>
        </p:nvSpPr>
        <p:spPr>
          <a:xfrm>
            <a:off x="5342578" y="4681728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5479738" y="4754880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Chiffres clés</a:t>
            </a:r>
            <a:endParaRPr lang="en-US" sz="900" dirty="0"/>
          </a:p>
        </p:txBody>
      </p:sp>
      <p:sp>
        <p:nvSpPr>
          <p:cNvPr id="50" name="Cellule"/>
          <p:cNvSpPr/>
          <p:nvPr/>
        </p:nvSpPr>
        <p:spPr>
          <a:xfrm>
            <a:off x="6940557" y="4681728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7077717" y="4754880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</a:t>
            </a:r>
            <a:endParaRPr lang="en-US" sz="900" dirty="0"/>
          </a:p>
        </p:txBody>
      </p:sp>
      <p:sp>
        <p:nvSpPr>
          <p:cNvPr id="52" name="Cellule"/>
          <p:cNvSpPr/>
          <p:nvPr/>
        </p:nvSpPr>
        <p:spPr>
          <a:xfrm>
            <a:off x="8538537" y="4681728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8675697" y="4754880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Intercalaire</a:t>
            </a:r>
            <a:endParaRPr lang="en-US" sz="900" dirty="0"/>
          </a:p>
        </p:txBody>
      </p:sp>
      <p:sp>
        <p:nvSpPr>
          <p:cNvPr id="54" name="Cellule"/>
          <p:cNvSpPr/>
          <p:nvPr/>
        </p:nvSpPr>
        <p:spPr>
          <a:xfrm>
            <a:off x="10136516" y="4681728"/>
            <a:ext cx="1506539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5" name="Text 49"/>
          <p:cNvSpPr txBox="1"/>
          <p:nvPr/>
        </p:nvSpPr>
        <p:spPr>
          <a:xfrm>
            <a:off x="10273676" y="4754880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Clôture</a:t>
            </a:r>
            <a:endParaRPr lang="en-US" sz="900" dirty="0"/>
          </a:p>
        </p:txBody>
      </p:sp>
      <p:sp>
        <p:nvSpPr>
          <p:cNvPr id="56" name="Cellule"/>
          <p:cNvSpPr/>
          <p:nvPr/>
        </p:nvSpPr>
        <p:spPr>
          <a:xfrm>
            <a:off x="548640" y="5202936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57" name="Text 51"/>
          <p:cNvSpPr txBox="1"/>
          <p:nvPr/>
        </p:nvSpPr>
        <p:spPr>
          <a:xfrm>
            <a:off x="685800" y="5276088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Couverture bilingue</a:t>
            </a:r>
            <a:endParaRPr lang="en-US" sz="900" dirty="0"/>
          </a:p>
        </p:txBody>
      </p:sp>
      <p:sp>
        <p:nvSpPr>
          <p:cNvPr id="58" name="Cellule"/>
          <p:cNvSpPr/>
          <p:nvPr/>
        </p:nvSpPr>
        <p:spPr>
          <a:xfrm>
            <a:off x="2146619" y="5202936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59" name="Text 53"/>
          <p:cNvSpPr txBox="1"/>
          <p:nvPr/>
        </p:nvSpPr>
        <p:spPr>
          <a:xfrm>
            <a:off x="2283779" y="5276088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Phrase choc</a:t>
            </a:r>
            <a:endParaRPr lang="en-US" sz="900" dirty="0"/>
          </a:p>
        </p:txBody>
      </p:sp>
      <p:sp>
        <p:nvSpPr>
          <p:cNvPr id="60" name="Cellule"/>
          <p:cNvSpPr/>
          <p:nvPr/>
        </p:nvSpPr>
        <p:spPr>
          <a:xfrm>
            <a:off x="3744599" y="5202936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3881759" y="5276088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Chiffre géant</a:t>
            </a:r>
            <a:endParaRPr lang="en-US" sz="900" dirty="0"/>
          </a:p>
        </p:txBody>
      </p:sp>
      <p:sp>
        <p:nvSpPr>
          <p:cNvPr id="62" name="Cellule"/>
          <p:cNvSpPr/>
          <p:nvPr/>
        </p:nvSpPr>
        <p:spPr>
          <a:xfrm>
            <a:off x="5342578" y="5202936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63" name="Text 57"/>
          <p:cNvSpPr txBox="1"/>
          <p:nvPr/>
        </p:nvSpPr>
        <p:spPr>
          <a:xfrm>
            <a:off x="5479738" y="5276088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Trois chiffres</a:t>
            </a:r>
            <a:endParaRPr lang="en-US" sz="900" dirty="0"/>
          </a:p>
        </p:txBody>
      </p:sp>
      <p:sp>
        <p:nvSpPr>
          <p:cNvPr id="64" name="Cellule"/>
          <p:cNvSpPr/>
          <p:nvPr/>
        </p:nvSpPr>
        <p:spPr>
          <a:xfrm>
            <a:off x="6940557" y="5202936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65" name="Text 59"/>
          <p:cNvSpPr txBox="1"/>
          <p:nvPr/>
        </p:nvSpPr>
        <p:spPr>
          <a:xfrm>
            <a:off x="7077717" y="5276088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Zoom Morph</a:t>
            </a:r>
            <a:endParaRPr lang="en-US" sz="900" dirty="0"/>
          </a:p>
        </p:txBody>
      </p:sp>
      <p:sp>
        <p:nvSpPr>
          <p:cNvPr id="66" name="Cellule"/>
          <p:cNvSpPr/>
          <p:nvPr/>
        </p:nvSpPr>
        <p:spPr>
          <a:xfrm>
            <a:off x="8538537" y="5202936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67" name="Text 61"/>
          <p:cNvSpPr txBox="1"/>
          <p:nvPr/>
        </p:nvSpPr>
        <p:spPr>
          <a:xfrm>
            <a:off x="8675697" y="5276088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Frise</a:t>
            </a:r>
            <a:endParaRPr lang="en-US" sz="900" dirty="0"/>
          </a:p>
        </p:txBody>
      </p:sp>
      <p:sp>
        <p:nvSpPr>
          <p:cNvPr id="68" name="Cellule"/>
          <p:cNvSpPr/>
          <p:nvPr/>
        </p:nvSpPr>
        <p:spPr>
          <a:xfrm>
            <a:off x="10136516" y="5202936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69" name="Text 63"/>
          <p:cNvSpPr txBox="1"/>
          <p:nvPr/>
        </p:nvSpPr>
        <p:spPr>
          <a:xfrm>
            <a:off x="10273676" y="5276088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Courbe sur nuit</a:t>
            </a:r>
            <a:endParaRPr lang="en-US" sz="900" dirty="0"/>
          </a:p>
        </p:txBody>
      </p:sp>
      <p:sp>
        <p:nvSpPr>
          <p:cNvPr id="70" name="Cellule"/>
          <p:cNvSpPr/>
          <p:nvPr/>
        </p:nvSpPr>
        <p:spPr>
          <a:xfrm>
            <a:off x="548640" y="5724144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71" name="Text 65"/>
          <p:cNvSpPr txBox="1"/>
          <p:nvPr/>
        </p:nvSpPr>
        <p:spPr>
          <a:xfrm>
            <a:off x="685800" y="5797296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Cascade</a:t>
            </a:r>
            <a:endParaRPr lang="en-US" sz="900" dirty="0"/>
          </a:p>
        </p:txBody>
      </p:sp>
      <p:sp>
        <p:nvSpPr>
          <p:cNvPr id="72" name="Cellule"/>
          <p:cNvSpPr/>
          <p:nvPr/>
        </p:nvSpPr>
        <p:spPr>
          <a:xfrm>
            <a:off x="2146619" y="5724144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73" name="Text 67"/>
          <p:cNvSpPr txBox="1"/>
          <p:nvPr/>
        </p:nvSpPr>
        <p:spPr>
          <a:xfrm>
            <a:off x="2283779" y="5797296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Anneau</a:t>
            </a:r>
            <a:endParaRPr lang="en-US" sz="900" dirty="0"/>
          </a:p>
        </p:txBody>
      </p:sp>
      <p:sp>
        <p:nvSpPr>
          <p:cNvPr id="74" name="Cellule"/>
          <p:cNvSpPr/>
          <p:nvPr/>
        </p:nvSpPr>
        <p:spPr>
          <a:xfrm>
            <a:off x="3744599" y="5724144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75" name="Text 69"/>
          <p:cNvSpPr txBox="1"/>
          <p:nvPr/>
        </p:nvSpPr>
        <p:spPr>
          <a:xfrm>
            <a:off x="3881759" y="5797296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de bord</a:t>
            </a:r>
            <a:endParaRPr lang="en-US" sz="900" dirty="0"/>
          </a:p>
        </p:txBody>
      </p:sp>
      <p:sp>
        <p:nvSpPr>
          <p:cNvPr id="76" name="Cellule"/>
          <p:cNvSpPr/>
          <p:nvPr/>
        </p:nvSpPr>
        <p:spPr>
          <a:xfrm>
            <a:off x="5342578" y="5724144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77" name="Text 71"/>
          <p:cNvSpPr txBox="1"/>
          <p:nvPr/>
        </p:nvSpPr>
        <p:spPr>
          <a:xfrm>
            <a:off x="5479738" y="5797296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Avant / après</a:t>
            </a:r>
            <a:endParaRPr lang="en-US" sz="900" dirty="0"/>
          </a:p>
        </p:txBody>
      </p:sp>
      <p:sp>
        <p:nvSpPr>
          <p:cNvPr id="78" name="Cellule"/>
          <p:cNvSpPr/>
          <p:nvPr/>
        </p:nvSpPr>
        <p:spPr>
          <a:xfrm>
            <a:off x="6940557" y="5724144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79" name="Text 73"/>
          <p:cNvSpPr txBox="1"/>
          <p:nvPr/>
        </p:nvSpPr>
        <p:spPr>
          <a:xfrm>
            <a:off x="7077717" y="5797296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Carte d'expansion</a:t>
            </a:r>
            <a:endParaRPr lang="en-US" sz="900" dirty="0"/>
          </a:p>
        </p:txBody>
      </p:sp>
      <p:sp>
        <p:nvSpPr>
          <p:cNvPr id="80" name="Cellule"/>
          <p:cNvSpPr/>
          <p:nvPr/>
        </p:nvSpPr>
        <p:spPr>
          <a:xfrm>
            <a:off x="8538537" y="5724144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81" name="Text 75"/>
          <p:cNvSpPr txBox="1"/>
          <p:nvPr/>
        </p:nvSpPr>
        <p:spPr>
          <a:xfrm>
            <a:off x="8675697" y="5797296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Citation</a:t>
            </a:r>
            <a:endParaRPr lang="en-US" sz="900" dirty="0"/>
          </a:p>
        </p:txBody>
      </p:sp>
      <p:sp>
        <p:nvSpPr>
          <p:cNvPr id="82" name="Cellule"/>
          <p:cNvSpPr/>
          <p:nvPr/>
        </p:nvSpPr>
        <p:spPr>
          <a:xfrm>
            <a:off x="10136516" y="5724144"/>
            <a:ext cx="1506539" cy="457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83" name="Text 77"/>
          <p:cNvSpPr txBox="1"/>
          <p:nvPr/>
        </p:nvSpPr>
        <p:spPr>
          <a:xfrm>
            <a:off x="10273676" y="5797296"/>
            <a:ext cx="12322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Équipe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640080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Avant d'envoyer un deck, dix vérifications garantissent le niveau d'exigence Halden</a:t>
            </a:r>
            <a:endParaRPr lang="en-US" sz="2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6A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CONTRÔLE AVANT ENVOI</a:t>
            </a:r>
            <a:endParaRPr lang="en-US" sz="9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1828800" y="64008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Faire relire par une deuxième personne tout document externe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Cellule"/>
          <p:cNvSpPr/>
          <p:nvPr/>
        </p:nvSpPr>
        <p:spPr>
          <a:xfrm>
            <a:off x="1051560" y="1554480"/>
            <a:ext cx="4952848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1627632"/>
            <a:ext cx="467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titres lus à la suite racontent toute l'histoire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87288" y="1554480"/>
            <a:ext cx="4572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87288" y="15544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Cellule"/>
          <p:cNvSpPr/>
          <p:nvPr/>
        </p:nvSpPr>
        <p:spPr>
          <a:xfrm>
            <a:off x="6690208" y="1554480"/>
            <a:ext cx="4952848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27368" y="1627632"/>
            <a:ext cx="467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titre tient en deux lignes, sans point final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4572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4231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Cellule"/>
          <p:cNvSpPr/>
          <p:nvPr/>
        </p:nvSpPr>
        <p:spPr>
          <a:xfrm>
            <a:off x="1051560" y="2423160"/>
            <a:ext cx="4952848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88720" y="2496312"/>
            <a:ext cx="467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seule idée par slide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7288" y="2423160"/>
            <a:ext cx="4572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87288" y="24231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Cellule"/>
          <p:cNvSpPr/>
          <p:nvPr/>
        </p:nvSpPr>
        <p:spPr>
          <a:xfrm>
            <a:off x="6690208" y="2423160"/>
            <a:ext cx="4952848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7368" y="2496312"/>
            <a:ext cx="467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chiffre a une source externe, jamais notre brief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4572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2918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Cellule"/>
          <p:cNvSpPr/>
          <p:nvPr/>
        </p:nvSpPr>
        <p:spPr>
          <a:xfrm>
            <a:off x="1051560" y="3291840"/>
            <a:ext cx="4952848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88720" y="3364992"/>
            <a:ext cx="467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Chiffre inventé : sticker et « dans notre démo » au titre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7288" y="3291840"/>
            <a:ext cx="4572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87288" y="32918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Cellule"/>
          <p:cNvSpPr/>
          <p:nvPr/>
        </p:nvSpPr>
        <p:spPr>
          <a:xfrm>
            <a:off x="6690208" y="3291840"/>
            <a:ext cx="4952848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27368" y="3364992"/>
            <a:ext cx="467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seul accent bronze par slide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4572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160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Cellule"/>
          <p:cNvSpPr/>
          <p:nvPr/>
        </p:nvSpPr>
        <p:spPr>
          <a:xfrm>
            <a:off x="1051560" y="4160520"/>
            <a:ext cx="4952848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88720" y="4233672"/>
            <a:ext cx="467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Aucun texte sous 9 pt, sources comprises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87288" y="4160520"/>
            <a:ext cx="4572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87288" y="4160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Cellule"/>
          <p:cNvSpPr/>
          <p:nvPr/>
        </p:nvSpPr>
        <p:spPr>
          <a:xfrm>
            <a:off x="6690208" y="4160520"/>
            <a:ext cx="4952848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27368" y="4233672"/>
            <a:ext cx="467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Vocabulaire de Dubaï : DLD, Oqood ; jamais « notaire »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029200"/>
            <a:ext cx="4572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5029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Cellule"/>
          <p:cNvSpPr/>
          <p:nvPr/>
        </p:nvSpPr>
        <p:spPr>
          <a:xfrm>
            <a:off x="1051560" y="5029200"/>
            <a:ext cx="4952848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188720" y="5102352"/>
            <a:ext cx="467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Graphiques natifs, sans 3D ni légende inutile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87288" y="5029200"/>
            <a:ext cx="4572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187288" y="5029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Cellule"/>
          <p:cNvSpPr/>
          <p:nvPr/>
        </p:nvSpPr>
        <p:spPr>
          <a:xfrm>
            <a:off x="6690208" y="5029200"/>
            <a:ext cx="4952848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827368" y="5102352"/>
            <a:ext cx="467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 de texte qui déborde de son cadre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B6472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194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Sobre, précis, sourcé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3794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 : Halden_Template_v5.pptx · Polices : Montserrat, IBM Plex Sans Arabic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8C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document maître par sujet ; la version uniquement dans le nom du fichier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alden">
  <a:themeElements>
    <a:clrScheme name="Halden">
      <a:dk1>
        <a:srgbClr val="0B1426"/>
      </a:dk1>
      <a:lt1>
        <a:srgbClr val="FFFFFF"/>
      </a:lt1>
      <a:dk2>
        <a:srgbClr val="0B1426"/>
      </a:dk2>
      <a:lt2>
        <a:srgbClr val="F4F5F7"/>
      </a:lt2>
      <a:accent1>
        <a:srgbClr val="0B1426"/>
      </a:accent1>
      <a:accent2>
        <a:srgbClr val="C9A86A"/>
      </a:accent2>
      <a:accent3>
        <a:srgbClr val="8A6A3A"/>
      </a:accent3>
      <a:accent4>
        <a:srgbClr val="5B6472"/>
      </a:accent4>
      <a:accent5>
        <a:srgbClr val="050A15"/>
      </a:accent5>
      <a:accent6>
        <a:srgbClr val="B42318"/>
      </a:accent6>
      <a:hlink>
        <a:srgbClr val="8A6A3A"/>
      </a:hlink>
      <a:folHlink>
        <a:srgbClr val="5B6472"/>
      </a:folHlink>
    </a:clrScheme>
    <a:fontScheme name="Halden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IBM Plex Sans Arabic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IBM Plex Sans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Halden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Halden : charte graphique</dc:title>
  <dc:subject>PptxGenJS Presentation</dc:subject>
  <dc:creator>Halden</dc:creator>
  <cp:lastModifiedBy>Halden</cp:lastModifiedBy>
  <cp:revision>1</cp:revision>
  <dcterms:created xsi:type="dcterms:W3CDTF">2026-10-25T16:24:01Z</dcterms:created>
  <dcterms:modified xsi:type="dcterms:W3CDTF">2026-10-25T16:24:01Z</dcterms:modified>
</cp:coreProperties>
</file>