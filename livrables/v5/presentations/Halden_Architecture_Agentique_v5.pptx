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ynthèse" id="{138a0db4-7234-c0cd-70b3-2d5fe019f722}">
          <p14:sldIdLst>
            <p14:sldId id="256"/>
            <p14:sldId id="257"/>
            <p14:sldId id="258"/>
          </p14:sldIdLst>
        </p14:section>
        <p14:section name="Comment ça marche" id="{75e44231-c80b-dfd4-17c4-fff3f7c3a7f8}">
          <p14:sldIdLst>
            <p14:sldId id="259"/>
            <p14:sldId id="260"/>
            <p14:sldId id="261"/>
          </p14:sldIdLst>
        </p14:section>
        <p14:section name="Les agents et la grille" id="{3a051eaa-0538-5454-4907-2a227e378d98}">
          <p14:sldIdLst>
            <p14:sldId id="262"/>
            <p14:sldId id="263"/>
            <p14:sldId id="264"/>
            <p14:sldId id="265"/>
          </p14:sldIdLst>
        </p14:section>
        <p14:section name="Hébergement, coût, intégrations" id="{1966a859-679a-9b76-4807-3d952be6a205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_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_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H_DIVIDER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H_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TRAVAIL · MOIS ANNÉE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la présentation</a:t>
            </a:r>
            <a:endParaRPr lang="en-US" sz="3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412480" y="6263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DUBAÏ · 2026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section</a:t>
            </a:r>
            <a:endParaRPr lang="en-US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section démontre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de clôture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: architecture agentique, hébergement et intégrations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 moteur fonctionne, où il tourne, ce qu'il coûte et pourquoi chaque tâche est confiée ou non à un agent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 D'ARCHITECTURE · USAGE INTERNE · OCTOBRE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est un moteur d'agents encadrés : pendant le pilote, chaque message vers un acheteur passe par une personne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l'équipe Halden ; règles appliquées dans le POC Halden v0.2. Règle identique dans le site, le dossier, la présentation client, l'atlas BPMN et le code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ÉTAPE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23774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853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3108960" y="1810512"/>
            <a:ext cx="853409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96596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Après une vente sur plan, le back-office gère environ 30 mois d'appels de fonds, de rapprochements, de relances et de dossiers escrow.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094415" cy="0"/>
          </a:xfrm>
          <a:prstGeom prst="line">
            <a:avLst/>
          </a:prstGeom>
          <a:noFill/>
          <a:ln w="6350">
            <a:solidFill>
              <a:srgbClr val="D5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Complication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92608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sensibles (identités, IBAN), règles par pays (PDPL), et une erreur de montant ou une relance à un acheteur qui a payé peut coûter le client.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11094415" cy="0"/>
          </a:xfrm>
          <a:prstGeom prst="line">
            <a:avLst/>
          </a:prstGeom>
          <a:noFill/>
          <a:ln w="6350">
            <a:solidFill>
              <a:srgbClr val="D5D8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Résolution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886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comprend et rédige, les règles calculent, une personne valide chaque message vers un acheteur et décide de chaque engagement. Pilote : un agent (encaissements), une instance aux EAU.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73168"/>
            <a:ext cx="11094415" cy="0"/>
          </a:xfrm>
          <a:prstGeom prst="line">
            <a:avLst/>
          </a:prstGeom>
          <a:noFill/>
          <a:ln w="6350">
            <a:solidFill>
              <a:srgbClr val="D5D8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029200"/>
            <a:ext cx="11094415" cy="10515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02920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 attendue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valider l'architecture du pilote (AWS Émirats, fichiers, portail d'approbation, marqueurs à la place des noms avant l'IA) et faire noter la grille de décision par un directeur financier en entretien.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principes structurent l'architecture, du rôle de l'IA aux intégrations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 CLÉS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l'équipe Halden ; règles appliquées dans le POC Halden v0.2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914400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rôles séparés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567864" cy="3474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2202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comprend et rédige. Le moteur de règles calcule. Une personne valide et engage le promoteur.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0824" y="1600200"/>
            <a:ext cx="2567864" cy="914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3704" y="1600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13784" y="1600200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Agentifier par critères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0824" y="2606040"/>
            <a:ext cx="2567864" cy="3474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73704" y="2743200"/>
            <a:ext cx="2202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grille de sept critères, une ligne de sensibilité à ±1 et des planchers par tâche. Notée par l'équipe : à refaire avec un directeur financier.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1600200"/>
            <a:ext cx="2567864" cy="914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5888" y="1600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055968" y="1600200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seule instance d'abord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2606040"/>
            <a:ext cx="2567864" cy="3474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5888" y="2743200"/>
            <a:ext cx="2202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Émirats pour le pilote. Une instance par pays seulement quand un deuxième pays a un client.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75191" y="1600200"/>
            <a:ext cx="2567864" cy="9144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58071" y="1600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898151" y="1600200"/>
            <a:ext cx="165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Fichiers d'abord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75191" y="2606040"/>
            <a:ext cx="2567864" cy="3474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8071" y="2743200"/>
            <a:ext cx="2202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CSV et MT940 lus aujourd'hui ; PDF exporté en CSV par la banque. Open Finance, WhatsApp et DLD viennent après la preuve.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données entrent par fichiers, sont traitées aux Émirats, et seuls des marqueurs anonymes partent vers le modèle d'IA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MAPPING DE L'ARCHITECTURE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AWS, inférence inter-régions de Claude depuis les régions du Moyen-Orient (24 février 2026) ; POC Halden v0.2 (llm.py : masquage). P pilote, E ensuite, V vision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926080" cy="44805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600200"/>
            <a:ext cx="4876495" cy="4480560"/>
          </a:xfrm>
          <a:prstGeom prst="rect">
            <a:avLst/>
          </a:prstGeom>
          <a:solidFill>
            <a:srgbClr val="FBFAF7"/>
          </a:solidFill>
          <a:ln w="12700">
            <a:solidFill>
              <a:srgbClr val="8A6A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899855" y="1600200"/>
            <a:ext cx="2743200" cy="44805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ENTRÉES · LE PROMOTEUR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69164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 · RÉGION AWS ÉMIRATS (ME-CENTRAL-1)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037015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SORTIES · HUMAINS ET TIERS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57400"/>
            <a:ext cx="2651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Plans de paiement et acheteurs (Excel)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Relevé escrow CSV ou MT940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 de jalon (PDF)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Messages acheteurs (e-mail)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Finance EAU via un TPP agréé  ·  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Business entrant  ·  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DLD API Gateway (Oqood, escrow)  ·  V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du promoteur (lecture)  ·  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86200" y="2057400"/>
            <a:ext cx="4602175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2057400"/>
            <a:ext cx="4327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Ingestion   </a:t>
            </a:r>
            <a:pPr indent="0" marL="0"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Lire, normaliser, dédoublonner sur le contenu ; crédits et débits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2624328"/>
            <a:ext cx="4602175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624328"/>
            <a:ext cx="4327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Orchestration   </a:t>
            </a:r>
            <a:pPr indent="0" marL="0"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chaque événement ; une seule conversation par acheteur et par cycle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86200" y="3191256"/>
            <a:ext cx="4602175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3191256"/>
            <a:ext cx="4327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Agent encaissements   </a:t>
            </a:r>
            <a:pPr indent="0" marL="0"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Appels, rapprochements, brouillons de relance ; les autres agents sont la vision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86200" y="3758184"/>
            <a:ext cx="4602175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758184"/>
            <a:ext cx="4327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Garde-fous   </a:t>
            </a:r>
            <a:pPr indent="0" marL="0"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Montants par règles ; signaux qui suspendent ; chaque message acheteur validé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86200" y="4325112"/>
            <a:ext cx="4602175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4325112"/>
            <a:ext cx="4327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Socle   </a:t>
            </a:r>
            <a:pPr indent="0" marL="0"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Dossier acheteur, pack pays en tables, journal d'audit signé, documents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86200" y="4937760"/>
            <a:ext cx="460217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231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023360" y="4937760"/>
            <a:ext cx="4327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FRONTIÈRE DU MODÈLE D'IA  </a:t>
            </a:r>
            <a:pPr indent="0" marL="0"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via Bedrock : l'inférence peut être traitée hors des EAU. Avant chaque appel, noms, téléphones et IBAN deviennent des marqueurs (⟦nom⟧) ; les vraies valeurs sont remises après, dans la région. À valider par un juriste avant toute donnée réelle.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37015" y="2057400"/>
            <a:ext cx="2468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d'approbation (portail)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 du matin du directeur financier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Comparaison shadow ligne à ligne  ·  P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 au nom du promoteur, après validation  ·  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WhatsApp, modèles approuvés par Meta  ·  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Dossier escrow pour chaque libération  ·  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037015" y="5394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L'argent ne passe jamais par Halden : acheteur → compte escrow du projet.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jalon déclenche un sous-processus par acheteur ; chaque message attend une validation, et tout s'arrête au premier signal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TRAJET D'UN JALON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 BPMN complet et validé : Atlas des processus Halden (EN), vue To-Be encaissements. Libération escrow : loi de Dubaï n° 8 de 2007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864" cy="1417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Jalon certifié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l'ingénieur du site ; rien ne démarre sans lui.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90824" y="1645920"/>
            <a:ext cx="2567864" cy="1417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73704" y="17830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Calcul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945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règles calculent l'échéance de chaque acheteur.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33008" y="1645920"/>
            <a:ext cx="2567864" cy="1417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5888" y="17830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Brouillons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21945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rédige dans la langue de l'acheteur, sur marqueurs.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5191" y="1645920"/>
            <a:ext cx="2567864" cy="14173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58071" y="17830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Validation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8071" y="21945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finance valide le lot ; montants recontrôlés.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2567864" cy="1417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3832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Rapprochement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 si référence, payeur et montant concordent ; sinon en file.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90824" y="3246120"/>
            <a:ext cx="2567864" cy="14173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73704" y="33832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· Relances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73704" y="37947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J+3 et J+10 préparées, validées, jamais si un paiement attend.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3008" y="3246120"/>
            <a:ext cx="2567864" cy="14173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5888" y="33832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· J+30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37947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dossier part à un humain ; procédure de défaut DLD préparée.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75191" y="3246120"/>
            <a:ext cx="2567864" cy="1417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58071" y="338328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· Libération escrow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58071" y="379476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Dossier prêt pour la demande de libération au jalon suivant.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9441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6A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93776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interrompt tout, à n'importe quelle étape : </a:t>
            </a:r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 j'ai payé », avocat, réclamation, difficulté, un virement non identifié du même montant, ou un dossier repris par un humain. Les relances de cet acheteur s'arrêtent ; elles ne reprennent que sur décision humaine (commande « reactiver » du POC).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responsabilité a un seul propriétaire : l'IA comprend, la règle calcule, la personne valide et engage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TROIS RÔLES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l'équipe Halden ; règles appliquées dans le POC Halden v0.2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Comprend et rédige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33323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 les messages, PDF et références floues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Rédige sur des marqueurs, jamais sur les vrais noms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 un rapprochement avec sa raison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 calcule jamais un montant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164592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RÈGLE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338218" y="196596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Calcule et contrôle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38218" y="27432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8218" y="2926080"/>
            <a:ext cx="33323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Échéances depuis le plan de paiement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Montants recontrôlés dans toute écriture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Plafonds et délais du pack pays, relus par un juriste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 reproductible et testé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27797" y="164592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PERSONNE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127797" y="196596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Valide et engage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27797" y="2743200"/>
            <a:ext cx="54864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7797" y="2926080"/>
            <a:ext cx="33323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Valide chaque message vers un acheteur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Signe : l'IA ne signe jamais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Tranche les exceptions et le défaut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Réactive un acheteur suspendu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pilote ne construit qu'un agent, les encaissements ; les cinq autres restent une vision tant qu'il n'est pas prouvé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FICHES DES AGENTS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l'équipe Halden ; règles appliquées dans le POC Halden v0.2. Dans le POC, les agents de la vision ne tournent qu'avec « demo --vision »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3017681"/>
                <a:gridCol w="3195192"/>
                <a:gridCol w="2130128"/>
                <a:gridCol w="976309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Fait seul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Prépare, une personne valide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Mesure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Périmètre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Orchestrateur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Route les événements ; une conversation par acheteur ; retire les relances en conflit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Rien : ne parle jamais à un acheteur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Événements routés sans erreur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Encaissements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Rapprochement exact (référence, payeur, montant) ; détection des signaux qui suspendent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Chaque appel et chaque relance ; rapprochements incertains ; virements rejetés ; plan en difficulté ; dossier de défaut DLD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Temps d'équipe par jalon ; part rapprochée sans humain ; 0 faux rapprochement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Relation acheteur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Vérifie l'expéditeur ; suspend sur signal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Chaque réponse ; chaque modification et son prix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Messages traités, signaux remontés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Livraison et réserves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Trie et affecte les réserves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 procès-verbal ; les réserves contestées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Réserves ouvertes à 30 et 90 jours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Contrat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Liste les pièces manquantes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Dossier Oqood et SPA ; la signature reste humaine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Jours jusqu'à l'enregistrement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Garantie, ventes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Identifie la garantie applicable (règle)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Toute réponse ; responsabilité, remises, réservation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Jours par sinistre ; délai de réponse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 critères notés de 1 à 5 proposent agent, règle ou humain ; des planchers et la règle du pilote ne peuvent que durcir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GRILLE DE CRITÈRES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Grille proposée par l'équipe Halden, poids égaux. À noter avec un directeur financier en entretien ; les notes actuelles sont les nôtres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3651"/>
                <a:gridCol w="1925477"/>
                <a:gridCol w="3667575"/>
                <a:gridCol w="2017166"/>
                <a:gridCol w="2200545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Axe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Critère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 question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=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=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 · Volume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Combien de fois la tâche revient-elle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Quelques fois par an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 centaines de fois par jalon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V2 · Temps équipe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Combien d'heures l'équipe y passe-t-elle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Quelques minutes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 jours par jalon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V3 · Impact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Que gagne le directeur financier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Confort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Moins de retards, erreurs évitées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Complexité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 · Ambiguïté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Les données sont-elles floues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Structurées, exactes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Texte libre, références fausses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Complexité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C2 · Conséquence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Une erreur touche-t-elle argent, droit ou relation acheteur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Interne, corrigible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Irréversible ou juridique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Complexité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C3 · Intégration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Les données sont-elles accessibles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fichier suffit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Connecteur, licence, tiers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Complexité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C4 · Jugement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Faut-il négocier, arbitrer, rassurer ?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Aucun jugement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Arbitrage ou relation sensible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94415" cy="11887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8920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Règle de lecture.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grille propose ; un plancher par tâche et la règle du pilote ne peuvent que rendre plus strict. Règle du pilote : tout message vers un acheteur est validé, quelle que soit la note. Une relance à un acheteur qui a payé n'est pas rattrapable : C2 = 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18 tâches, 3 restent humaines, 3 sont des règles, 10 sont validées ; seules 2 tâches internes sont autonomes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NOTATION DES TÂCHES ET SENSIBILITÉ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Calculé par le POC Halden v0.2 (rules.niveau_grille, guardrails.PLANCHERS, rules.sensibilite). Notes de l'équipe, à refaire avec un directeur financier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05680"/>
                <a:gridCol w="352204"/>
                <a:gridCol w="352204"/>
                <a:gridCol w="836484"/>
                <a:gridCol w="836484"/>
                <a:gridCol w="1364789"/>
                <a:gridCol w="3786189"/>
                <a:gridCol w="66038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Tâche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Grille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Plancher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Décision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Bascule si une note bouge de ±1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Phase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Relances d'échéances J+3 / J+10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C1−1 → 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Vue CFO du matin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C1−1 → 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Tri et affectation des réserves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C1−1 → règle ; C2+1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Réponses FAQ acquéreurs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stable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Rédaction des appels de fonds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2.5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C1−1 → 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Rapprochement bancaire (cas ambigus)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stable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Actualités chantier mensuelles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2.7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2.5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V1−1 → pas d'agent ; C1−1 → règle ; C2−1 → 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Demandes de modification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V1−1 → pas d'agent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Suivi des leads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3.7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C2−1 → 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Calcul des échéances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4.7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 (pas d'IA)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C1+1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Garantie applicable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 (pas d'IA)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V1−1 → pas d'agent ; C1+1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 pour acquéreur en difficulté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3.7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 décide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V1−1 → pas d'agent ; C2−1 → validation ; C4−1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Contrat, SPA, réservation, annulation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 décide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C2−1 → validation ; C4−1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Responsabilité et litige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Humain décide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V1−1 → pas d'agent ; C2−1 → validation ; C4−1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Lettrage exact (référence + payeur + montant)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4.7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1.5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 (pas d'IA)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C1+1 →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Collecte des pièces KYC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C1−1 → règle ; C2−1 → 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Suivi SPA et Oqood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3.7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C1−1 → règle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Réponse garantie à l'acquéreur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1.8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 + validation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V1−1 → pas d'agent ; C1−1 → règle ; C2−1 → autonome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Cinq questions, dans cet ordre, disent si une tâche devient une règle, un agent autonome, un agent validé ou reste humaine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ARBRE DE DÉCISION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l'équipe Halden ; règles appliquées dans le POC Halden v0.2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45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Revient-elle souvent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645920"/>
            <a:ext cx="5973775" cy="7315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645920"/>
            <a:ext cx="5608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→ pas d'agent : règle simple ou humain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14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Peut-on l'écrire comme une règle exacte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2514600"/>
            <a:ext cx="5973775" cy="7315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2514600"/>
            <a:ext cx="5608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Oui → règle, pas d'IA (calcul des échéances, lettrage exact)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Engage-t-elle argent, droit ou un arbitrage 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3383280"/>
            <a:ext cx="5973775" cy="7315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52160" y="3383280"/>
            <a:ext cx="5608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Oui → humain décide (plan en difficulté, contrat, responsabilité)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8A6A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51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Touche-t-elle un acheteur 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4251960"/>
            <a:ext cx="5973775" cy="7315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4251960"/>
            <a:ext cx="5608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Oui → agent prépare, une personne valide (pendant tout le pilote)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20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L'erreur reste-t-elle interne et corrigible 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0" y="5120640"/>
            <a:ext cx="5973775" cy="7315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52160" y="5120640"/>
            <a:ext cx="5608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Oui → agent autonome, journalisé (vue CFO, tri interne) ; sinon validation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Puis le moment : pilote si un fichier suffit (C3 ≤ 2) et si la tâche sert les encaissements ; sinon ensuite ou vision.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seule instance aux Émirats pour le pilote ; une instance par pays seulement quand un deuxième pays a un client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HÉBERGEMENT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AWS (Bedrock inter-régions, 24 février 2026) ; PDPL EAU (décret-loi fédéral n° 45 de 2021) ; PDPL KSA, art. 29. Pas un avis juridique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3117439"/>
                <a:gridCol w="2750681"/>
                <a:gridCol w="320912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Couche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 Dubaï (shadow, anonymisé)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Live Émirats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Arabie saoudite, plus tard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Application et données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AWS, région Émirats (me-central-1)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Idem ; conditions écrites dans le contrat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Région saoudienne pour les clients régulés ; ouverture d'une région AWS annoncée pour décembre 2026 (à vérifier)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Modèle d'IA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Claude via Bedrock ; seuls des marqueurs partent (ni nom, ni téléphone, ni IBAN)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Avis écrit d'un juriste local avant toute donnée réelle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Transfert hors du royaume très encadré : à trancher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Règles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PDPL EAU : transferts possibles sous conditions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Hébergement et sous-traitants fixés par écrit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Transfert seulement par exception ; clients SAMA : données dans le royaume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Journal et accès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Journal d'audit signé (HMAC) et ancré ; approbateurs nommés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Connexion individuelle de chaque approbateur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Sauvegardes, journaux et support dans le royaume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proposée : </a:t>
            </a:r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relationnelle (dossiers, règles versionnées) · stockage objet · workflow durable pour J+3 à J+30 · journal en ajout seul · clés de chiffrement dans la région.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Avec un petit modèle et des modèles de lettres, l'IA coûte une fraction de l'hypothèse de AED 0,30 par appartement et par mois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 DE L'IA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publics de l'API Anthropic, octobre 2026 (Bedrock a sa propre grille, à vérifier). Volumes par appartement : hypothèse. 1 USD = 3,6725 AED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ESTIMATION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3300818"/>
                <a:gridCol w="3300818"/>
                <a:gridCol w="210885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Élément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Hypothèse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Calcul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Résultat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Modèle par défaut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Claude Haiku 5.5 (le POC, réglable)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USD 0,10 / 0,50 par million de tokens (entrée / sortie)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brouillon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800 tokens en entrée, 250 en sortie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0,00008 + 0,000125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≈ USD 0,0002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 appartement et par mois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appels : appel, relance, réponse, cas ambigu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× USD 0,0002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≈ AED 0,003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Tour de 300 appartements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mois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300 × AED 0,003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≈ AED 0,9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Avec un grand modèle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Opus 5.5, mêmes volumes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× 40 environ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≈ AED 0,12 par appartement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84632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se mesure déjà 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POC compte les tokens de chaque appel et écrit le coût au journal (CONSOMMATION_IA). Pendant le shadow run, on remplace ces hypothèses par la mesure réelle, tour par tour.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pilote tient avec trois fichiers et un portail ; chaque connexion directe arrive quand un client la paie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: Dubai Land Department (API Gateway, tarifs) ; Banque centrale des EAU (Open Finance, via Spare) ; Meta (WhatsApp Business Platform) ; POC Halden v0.2 (ingestion.py)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3667575"/>
                <a:gridCol w="916894"/>
                <a:gridCol w="412602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Système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Comment on s'y branche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Phase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Ce qu'il faut savoir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Plans de paiement et acheteurs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Import Excel, colonnes validées par le promoteur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Chaque promoteur a son format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Relevés escrow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CSV (plusieurs mises en page) et MT940, lus par le POC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PDF : demander un export CSV à la banque ; débits et rejets lus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Certification du jalon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PDF par e-mail, puis formulaire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Rien ne démarre sans certification humaine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File d'approbation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Portail Halden, approbateurs nommés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Pilote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Notifications e-mail ou Teams ensuite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Open Finance EAU (AlTareq)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Lecture des transactions via un TPP agréé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Ensuite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Cadre 2024 ; banques connectées à vérifier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E-mail et WhatsApp sortants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Domaine du promoteur ; API WhatsApp via fournisseur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Ensuite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Toujours après validation ; modèles approuvés par Meta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DLD API Gateway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Trust Account Bulk Inflow ; Oqood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 nom du promoteur ; environ AED 30 000 + TVA par an et par API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ERP du promoteur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Lecture seule des exports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On lit, on ne remplace pas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décision est prise, trois restent à trancher avant le live ; aucune ne bloque le shadow run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DÉCISIONS ET PROCHAINES ÉTAPES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l'équipe Halden ; règles appliquées dans le POC Halden v0.2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10048" cy="118872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Décidé · Qui appuie sur « envoyer » 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Pendant le pilote, une personne nommée de l'équipe du promoteur valide chaque message ; rien ne part en shadow. En live, Halden envoie seulement ce qui a été validé.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33008" y="1645920"/>
            <a:ext cx="5410048" cy="1188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1755648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Où tourne le modèle d'IA en live 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214884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Bedrock depuis la région Émirats, marqueurs à la place des données, avis écrit d'un juriste. Plan B : modèle hébergé dans le pays.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410048" cy="1188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081528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 prestataire Open Finance 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7472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TPP déjà agréé, choisi selon les banques escrow des premiers promoteurs.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2971800"/>
            <a:ext cx="5410048" cy="1188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1608" y="3081528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Quelle région pour la KSA 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347472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Décider avec le premier client saoudien, pas avant.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LES 30 PROCHAINS JOURS</a:t>
            </a:r>
            <a:endParaRPr lang="en-US" sz="900" dirty="0"/>
          </a:p>
        </p:txBody>
      </p:sp>
      <p:sp>
        <p:nvSpPr>
          <p:cNvPr id="18" name="Filet"/>
          <p:cNvSpPr/>
          <p:nvPr/>
        </p:nvSpPr>
        <p:spPr>
          <a:xfrm>
            <a:off x="548640" y="4690872"/>
            <a:ext cx="1109441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Passer le moteur sur un vrai relevé anonymisé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390824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90824" y="53492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relire le pack Dubaï et la procédure de défaut par un juriste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53492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Noter la grille avec un directeur financier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075191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75191" y="53492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relire les modèles arabes par un natif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règle et chaque chiffre renvoie à une source ; les points incertains sont signalés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ANNEXE · SOURCES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points juridiques sont des résumés à confirmer avec un juriste émirati, pas un avis juridique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6601635"/>
                <a:gridCol w="2475613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Domaine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Source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Modèle IA aux EAU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AWS Machine Learning Blog, inférence inter-régions de Claude au Moyen-Orient, 24 février 2026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Vérifié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Open Finance EAU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Spare, cadre Open Finance de la Banque centrale (blog éditeur)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vérifier auprès de la Banque centrale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DLD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dubailand.gov.ae, API Gateway : Oqood, Trust Account Bulk Inflow, tarifs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Vérifié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Escrow et défaut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Loi de Dubaï n° 8 de 2007 ; loi n° 13 de 2008, art. 11, modifiée par la loi n° 19 de 2017 ; Al Tamimi &amp; Co.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valider par un juriste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Données EAU et KSA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PDPL EAU, décret-loi fédéral n° 45 de 2021 ; PDPL KSA, art. 29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valider par un juriste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Cloud KSA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Annonce d'une région AWS saoudienne pour décembre 2026, consultée en octobre 2026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vérifier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Coût de l'IA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Prix publics de l'API Anthropic, octobre 2026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Estimation, à mesurer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Grille et notation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Équipe Halden ; calcul du POC Halden v0.2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142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Hypothèse, à noter avec un DAF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promesse, tenue jusqu'au bout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 d'architecture Halden · document de travail · octobre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alden">
  <a:themeElements>
    <a:clrScheme name="Halden">
      <a:dk1>
        <a:srgbClr val="0B1426"/>
      </a:dk1>
      <a:lt1>
        <a:srgbClr val="FFFFFF"/>
      </a:lt1>
      <a:dk2>
        <a:srgbClr val="0B1426"/>
      </a:dk2>
      <a:lt2>
        <a:srgbClr val="F4F5F7"/>
      </a:lt2>
      <a:accent1>
        <a:srgbClr val="0B1426"/>
      </a:accent1>
      <a:accent2>
        <a:srgbClr val="C9A86A"/>
      </a:accent2>
      <a:accent3>
        <a:srgbClr val="8A6A3A"/>
      </a:accent3>
      <a:accent4>
        <a:srgbClr val="5B6472"/>
      </a:accent4>
      <a:accent5>
        <a:srgbClr val="050A15"/>
      </a:accent5>
      <a:accent6>
        <a:srgbClr val="B42318"/>
      </a:accent6>
      <a:hlink>
        <a:srgbClr val="8A6A3A"/>
      </a:hlink>
      <a:folHlink>
        <a:srgbClr val="5B6472"/>
      </a:folHlink>
    </a:clrScheme>
    <a:fontScheme name="Halde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Halden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Halden : note d'architecture</dc:title>
  <dc:subject>PptxGenJS Presentation</dc:subject>
  <dc:creator>Halden</dc:creator>
  <cp:lastModifiedBy>Halden</cp:lastModifiedBy>
  <cp:revision>1</cp:revision>
  <dcterms:created xsi:type="dcterms:W3CDTF">2026-10-25T16:29:24Z</dcterms:created>
  <dcterms:modified xsi:type="dcterms:W3CDTF">2026-10-25T16:29:24Z</dcterms:modified>
</cp:coreProperties>
</file>