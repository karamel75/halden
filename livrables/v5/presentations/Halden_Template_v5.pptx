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èles" id="{2bd80c5a-74b0-abd2-69c0-1cdc5b4e334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Modèles impact" id="{6add696a-8721-c0c4-b246-d252fa5a6a37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</c:v>
                </c:pt>
              </c:strCache>
            </c:strRef>
          </c:tx>
          <c:spPr>
            <a:solidFill>
              <a:srgbClr val="CBD1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4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14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48</c:v>
                </c:pt>
                <c:pt idx="2">
                  <c:v>55</c:v>
                </c:pt>
                <c:pt idx="3">
                  <c:v>61</c:v>
                </c:pt>
                <c:pt idx="4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4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8D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Aujourd'hui</c:v>
                </c:pt>
              </c:strCache>
            </c:strRef>
          </c:tx>
          <c:spPr>
            <a:solidFill>
              <a:srgbClr val="8C96A8"/>
            </a:solidFill>
            <a:ln w="38100" cap="flat">
              <a:solidFill>
                <a:srgbClr val="8C96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42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96A8"/>
              </a:solidFill>
              <a:ln w="9525" cap="flat">
                <a:solidFill>
                  <a:srgbClr val="8C96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S0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22</c:v>
                </c:pt>
                <c:pt idx="5">
                  <c:v>22</c:v>
                </c:pt>
                <c:pt idx="6">
                  <c:v>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Objectif Halden</c:v>
                </c:pt>
              </c:strCache>
            </c:strRef>
          </c:tx>
          <c:spPr>
            <a:solidFill>
              <a:srgbClr val="C9A86A"/>
            </a:solidFill>
            <a:ln w="38100" cap="flat">
              <a:solidFill>
                <a:srgbClr val="C9A8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42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A86A"/>
              </a:solidFill>
              <a:ln w="9525" cap="flat">
                <a:solidFill>
                  <a:srgbClr val="C9A8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S0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10</c:v>
                </c:pt>
                <c:pt idx="2">
                  <c:v>12</c:v>
                </c:pt>
                <c:pt idx="3">
                  <c:v>11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42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B4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FD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2B45"/>
              </a:solidFill>
              <a:prstDash val="solid"/>
              <a:round/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6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4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426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426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Oui</c:v>
                </c:pt>
                <c:pt idx="1">
                  <c:v>Non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</c:v>
                </c:pt>
              </c:strCache>
            </c:strRef>
          </c:tx>
          <c:spPr>
            <a:solidFill>
              <a:srgbClr val="3341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8CFD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41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41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6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 à 9 jours</c:v>
                  </c:pt>
                  <c:pt idx="1">
                    <c:v>10 à 29 jours</c:v>
                  </c:pt>
                  <c:pt idx="2">
                    <c:v>30 jours et plus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0</c:v>
                </c:pt>
                <c:pt idx="2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C8CFD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B4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FD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_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_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_DIVIDER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H_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MOIS ANNÉE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</a:t>
            </a:r>
            <a:endParaRPr lang="en-US" sz="3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412480" y="6263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 · 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 en deux lignes maximum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: pour qui, pour quelle décision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DE DOCUMENT · MOIS ANNÉE · CONFIDENTIEL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document répond à une question en cinq temps, de la conclusion aux prochaines étapes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91440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.01</a:t>
            </a:r>
            <a:endParaRPr lang="en-US" sz="2200" dirty="0"/>
          </a:p>
        </p:txBody>
      </p:sp>
      <p:sp>
        <p:nvSpPr>
          <p:cNvPr id="7" name="Cellule"/>
          <p:cNvSpPr/>
          <p:nvPr/>
        </p:nvSpPr>
        <p:spPr>
          <a:xfrm>
            <a:off x="1508760" y="1600200"/>
            <a:ext cx="1013429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91640" y="160020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Ce que la section démontre, en une phrase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9144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.02</a:t>
            </a:r>
            <a:endParaRPr lang="en-US" sz="2200" dirty="0"/>
          </a:p>
        </p:txBody>
      </p:sp>
      <p:sp>
        <p:nvSpPr>
          <p:cNvPr id="11" name="Cellule"/>
          <p:cNvSpPr/>
          <p:nvPr/>
        </p:nvSpPr>
        <p:spPr>
          <a:xfrm>
            <a:off x="1508760" y="2468880"/>
            <a:ext cx="1013429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91640" y="246888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Problème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Ce que la section démontre, en une phrase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9144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.03</a:t>
            </a:r>
            <a:endParaRPr lang="en-US" sz="2200" dirty="0"/>
          </a:p>
        </p:txBody>
      </p:sp>
      <p:sp>
        <p:nvSpPr>
          <p:cNvPr id="15" name="Cellule"/>
          <p:cNvSpPr/>
          <p:nvPr/>
        </p:nvSpPr>
        <p:spPr>
          <a:xfrm>
            <a:off x="1508760" y="3337560"/>
            <a:ext cx="1013429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91640" y="33375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Ce que la section démontre, en une phrase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9144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.04</a:t>
            </a:r>
            <a:endParaRPr lang="en-US" sz="2200" dirty="0"/>
          </a:p>
        </p:txBody>
      </p:sp>
      <p:sp>
        <p:nvSpPr>
          <p:cNvPr id="19" name="Cellule"/>
          <p:cNvSpPr/>
          <p:nvPr/>
        </p:nvSpPr>
        <p:spPr>
          <a:xfrm>
            <a:off x="1508760" y="4206240"/>
            <a:ext cx="1013429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91640" y="420624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Ce que la section démontre, en une phrase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9144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.05</a:t>
            </a:r>
            <a:endParaRPr lang="en-US" sz="2200" dirty="0"/>
          </a:p>
        </p:txBody>
      </p:sp>
      <p:sp>
        <p:nvSpPr>
          <p:cNvPr id="23" name="Cellule"/>
          <p:cNvSpPr/>
          <p:nvPr/>
        </p:nvSpPr>
        <p:spPr>
          <a:xfrm>
            <a:off x="1508760" y="5074920"/>
            <a:ext cx="1013429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91640" y="507492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Ce que la section démontre, en une phrase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démontre, en une ou deux lignes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recommandation complète, en une phrase de deux lignes au plus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SYNTHÈSE SCR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23774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853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3108960" y="1810512"/>
            <a:ext cx="853409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Repère"/>
          <p:cNvSpPr/>
          <p:nvPr/>
        </p:nvSpPr>
        <p:spPr>
          <a:xfrm>
            <a:off x="685800" y="2350008"/>
            <a:ext cx="109728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Cellule"/>
          <p:cNvSpPr/>
          <p:nvPr/>
        </p:nvSpPr>
        <p:spPr>
          <a:xfrm>
            <a:off x="1005840" y="1965960"/>
            <a:ext cx="1920240" cy="8778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0391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2" name="Cadre"/>
          <p:cNvSpPr/>
          <p:nvPr/>
        </p:nvSpPr>
        <p:spPr>
          <a:xfrm>
            <a:off x="3108960" y="1965960"/>
            <a:ext cx="8534095" cy="87782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965960"/>
            <a:ext cx="82597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faits établis, que le lecteur accepte sans débat.</a:t>
            </a:r>
            <a:endParaRPr lang="en-US" sz="1100" dirty="0"/>
          </a:p>
        </p:txBody>
      </p:sp>
      <p:sp>
        <p:nvSpPr>
          <p:cNvPr id="14" name="Repère"/>
          <p:cNvSpPr/>
          <p:nvPr/>
        </p:nvSpPr>
        <p:spPr>
          <a:xfrm>
            <a:off x="685800" y="3374136"/>
            <a:ext cx="109728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Cellule"/>
          <p:cNvSpPr/>
          <p:nvPr/>
        </p:nvSpPr>
        <p:spPr>
          <a:xfrm>
            <a:off x="1005840" y="2990088"/>
            <a:ext cx="1920240" cy="8778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Complication</a:t>
            </a:r>
            <a:endParaRPr lang="en-US" sz="1000" dirty="0"/>
          </a:p>
        </p:txBody>
      </p:sp>
      <p:sp>
        <p:nvSpPr>
          <p:cNvPr id="17" name="Cadre"/>
          <p:cNvSpPr/>
          <p:nvPr/>
        </p:nvSpPr>
        <p:spPr>
          <a:xfrm>
            <a:off x="3108960" y="2990088"/>
            <a:ext cx="8534095" cy="87782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2990088"/>
            <a:ext cx="82597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a changé ou va changer, et pourquoi c'est un problème maintenant.</a:t>
            </a:r>
            <a:endParaRPr lang="en-US" sz="1100" dirty="0"/>
          </a:p>
        </p:txBody>
      </p:sp>
      <p:sp>
        <p:nvSpPr>
          <p:cNvPr id="19" name="Repère"/>
          <p:cNvSpPr/>
          <p:nvPr/>
        </p:nvSpPr>
        <p:spPr>
          <a:xfrm>
            <a:off x="685800" y="4398264"/>
            <a:ext cx="109728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Cellule"/>
          <p:cNvSpPr/>
          <p:nvPr/>
        </p:nvSpPr>
        <p:spPr>
          <a:xfrm>
            <a:off x="1005840" y="4014216"/>
            <a:ext cx="1920240" cy="8778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4087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Résolution</a:t>
            </a:r>
            <a:endParaRPr lang="en-US" sz="1000" dirty="0"/>
          </a:p>
        </p:txBody>
      </p:sp>
      <p:sp>
        <p:nvSpPr>
          <p:cNvPr id="22" name="Cadre"/>
          <p:cNvSpPr/>
          <p:nvPr/>
        </p:nvSpPr>
        <p:spPr>
          <a:xfrm>
            <a:off x="3108960" y="4014216"/>
            <a:ext cx="8534095" cy="87782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4014216"/>
            <a:ext cx="82597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recommandons, et le bénéfice attendu.</a:t>
            </a:r>
            <a:endParaRPr lang="en-US" sz="1100" dirty="0"/>
          </a:p>
        </p:txBody>
      </p:sp>
      <p:sp>
        <p:nvSpPr>
          <p:cNvPr id="24" name="Bandeau"/>
          <p:cNvSpPr/>
          <p:nvPr/>
        </p:nvSpPr>
        <p:spPr>
          <a:xfrm>
            <a:off x="548640" y="5166360"/>
            <a:ext cx="237744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166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 ATTENDUE</a:t>
            </a:r>
            <a:endParaRPr lang="en-US" sz="900" dirty="0"/>
          </a:p>
        </p:txBody>
      </p:sp>
      <p:sp>
        <p:nvSpPr>
          <p:cNvPr id="26" name="Cellule"/>
          <p:cNvSpPr/>
          <p:nvPr/>
        </p:nvSpPr>
        <p:spPr>
          <a:xfrm>
            <a:off x="3108960" y="5166360"/>
            <a:ext cx="8534095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46120" y="5239512"/>
            <a:ext cx="8259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 lecteur doit valider à la fin du document.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les quatre messages clés que le lecteur doit retenir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POINTS CLÉS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36444" cy="868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ou mot clé</a:t>
            </a:r>
            <a:endParaRPr lang="en-US" sz="1100" dirty="0"/>
          </a:p>
        </p:txBody>
      </p:sp>
      <p:sp>
        <p:nvSpPr>
          <p:cNvPr id="7" name="Cellule"/>
          <p:cNvSpPr/>
          <p:nvPr/>
        </p:nvSpPr>
        <p:spPr>
          <a:xfrm>
            <a:off x="548640" y="2514600"/>
            <a:ext cx="2636444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97480"/>
            <a:ext cx="23621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 chiffrée et sourcée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Deuxième élément de preuve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Conséquence pour le lecteur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7964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7964" y="155448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2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ou mot clé</a:t>
            </a:r>
            <a:endParaRPr lang="en-US" sz="1100" dirty="0"/>
          </a:p>
        </p:txBody>
      </p:sp>
      <p:sp>
        <p:nvSpPr>
          <p:cNvPr id="11" name="Cellule"/>
          <p:cNvSpPr/>
          <p:nvPr/>
        </p:nvSpPr>
        <p:spPr>
          <a:xfrm>
            <a:off x="3367964" y="2514600"/>
            <a:ext cx="2636444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5124" y="2697480"/>
            <a:ext cx="23621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 chiffrée et sourcée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Deuxième élément de preuve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Conséquence pour le lecteur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7288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87288" y="155448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ou mot clé</a:t>
            </a:r>
            <a:endParaRPr lang="en-US" sz="1100" dirty="0"/>
          </a:p>
        </p:txBody>
      </p:sp>
      <p:sp>
        <p:nvSpPr>
          <p:cNvPr id="15" name="Cellule"/>
          <p:cNvSpPr/>
          <p:nvPr/>
        </p:nvSpPr>
        <p:spPr>
          <a:xfrm>
            <a:off x="6187288" y="2514600"/>
            <a:ext cx="2636444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24448" y="2697480"/>
            <a:ext cx="23621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 chiffrée et sourcée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Deuxième élément de preuve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Conséquence pour le lecteur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611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06611" y="155448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4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ou mot clé</a:t>
            </a:r>
            <a:endParaRPr lang="en-US" sz="1100" dirty="0"/>
          </a:p>
        </p:txBody>
      </p:sp>
      <p:sp>
        <p:nvSpPr>
          <p:cNvPr id="19" name="Cellule"/>
          <p:cNvSpPr/>
          <p:nvPr/>
        </p:nvSpPr>
        <p:spPr>
          <a:xfrm>
            <a:off x="9006611" y="2514600"/>
            <a:ext cx="2636444" cy="3474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1" y="2697480"/>
            <a:ext cx="23621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 chiffrée et sourcée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Deuxième élément de preuve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Conséquence pour le lecteur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les cinq éléments qui composent la réponse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DESCRIPTION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23774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853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3108960" y="1810512"/>
            <a:ext cx="853409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Repère"/>
          <p:cNvSpPr/>
          <p:nvPr/>
        </p:nvSpPr>
        <p:spPr>
          <a:xfrm>
            <a:off x="658368" y="2258568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0" name="Cellule"/>
          <p:cNvSpPr/>
          <p:nvPr/>
        </p:nvSpPr>
        <p:spPr>
          <a:xfrm>
            <a:off x="960120" y="1965960"/>
            <a:ext cx="1965960" cy="6949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0391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 1</a:t>
            </a:r>
            <a:endParaRPr lang="en-US" sz="1000" dirty="0"/>
          </a:p>
        </p:txBody>
      </p:sp>
      <p:sp>
        <p:nvSpPr>
          <p:cNvPr id="12" name="Cadre"/>
          <p:cNvSpPr/>
          <p:nvPr/>
        </p:nvSpPr>
        <p:spPr>
          <a:xfrm>
            <a:off x="3108960" y="1965960"/>
            <a:ext cx="8534095" cy="69494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965960"/>
            <a:ext cx="8259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lignes qui décrivent l'élément et sa contribution à la conclusion du titre.</a:t>
            </a:r>
            <a:endParaRPr lang="en-US" sz="1100" dirty="0"/>
          </a:p>
        </p:txBody>
      </p:sp>
      <p:sp>
        <p:nvSpPr>
          <p:cNvPr id="14" name="Repère"/>
          <p:cNvSpPr/>
          <p:nvPr/>
        </p:nvSpPr>
        <p:spPr>
          <a:xfrm>
            <a:off x="658368" y="3081528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5" name="Cellule"/>
          <p:cNvSpPr/>
          <p:nvPr/>
        </p:nvSpPr>
        <p:spPr>
          <a:xfrm>
            <a:off x="960120" y="2788920"/>
            <a:ext cx="1965960" cy="6949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 2</a:t>
            </a:r>
            <a:endParaRPr lang="en-US" sz="1000" dirty="0"/>
          </a:p>
        </p:txBody>
      </p:sp>
      <p:sp>
        <p:nvSpPr>
          <p:cNvPr id="17" name="Cadre"/>
          <p:cNvSpPr/>
          <p:nvPr/>
        </p:nvSpPr>
        <p:spPr>
          <a:xfrm>
            <a:off x="3108960" y="2788920"/>
            <a:ext cx="8534095" cy="69494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2788920"/>
            <a:ext cx="8259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lignes qui décrivent l'élément et sa contribution à la conclusion du titre.</a:t>
            </a:r>
            <a:endParaRPr lang="en-US" sz="1100" dirty="0"/>
          </a:p>
        </p:txBody>
      </p:sp>
      <p:sp>
        <p:nvSpPr>
          <p:cNvPr id="19" name="Repère"/>
          <p:cNvSpPr/>
          <p:nvPr/>
        </p:nvSpPr>
        <p:spPr>
          <a:xfrm>
            <a:off x="658368" y="3904488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0" name="Cellule"/>
          <p:cNvSpPr/>
          <p:nvPr/>
        </p:nvSpPr>
        <p:spPr>
          <a:xfrm>
            <a:off x="960120" y="3611880"/>
            <a:ext cx="1965960" cy="6949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 3</a:t>
            </a:r>
            <a:endParaRPr lang="en-US" sz="1000" dirty="0"/>
          </a:p>
        </p:txBody>
      </p:sp>
      <p:sp>
        <p:nvSpPr>
          <p:cNvPr id="22" name="Cadre"/>
          <p:cNvSpPr/>
          <p:nvPr/>
        </p:nvSpPr>
        <p:spPr>
          <a:xfrm>
            <a:off x="3108960" y="3611880"/>
            <a:ext cx="8534095" cy="69494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3611880"/>
            <a:ext cx="8259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lignes qui décrivent l'élément et sa contribution à la conclusion du titre.</a:t>
            </a:r>
            <a:endParaRPr lang="en-US" sz="1100" dirty="0"/>
          </a:p>
        </p:txBody>
      </p:sp>
      <p:sp>
        <p:nvSpPr>
          <p:cNvPr id="24" name="Repère"/>
          <p:cNvSpPr/>
          <p:nvPr/>
        </p:nvSpPr>
        <p:spPr>
          <a:xfrm>
            <a:off x="658368" y="4727448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5" name="Cellule"/>
          <p:cNvSpPr/>
          <p:nvPr/>
        </p:nvSpPr>
        <p:spPr>
          <a:xfrm>
            <a:off x="960120" y="4434840"/>
            <a:ext cx="1965960" cy="6949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45079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 4</a:t>
            </a:r>
            <a:endParaRPr lang="en-US" sz="1000" dirty="0"/>
          </a:p>
        </p:txBody>
      </p:sp>
      <p:sp>
        <p:nvSpPr>
          <p:cNvPr id="27" name="Cadre"/>
          <p:cNvSpPr/>
          <p:nvPr/>
        </p:nvSpPr>
        <p:spPr>
          <a:xfrm>
            <a:off x="3108960" y="4434840"/>
            <a:ext cx="8534095" cy="69494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4434840"/>
            <a:ext cx="8259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lignes qui décrivent l'élément et sa contribution à la conclusion du titre.</a:t>
            </a:r>
            <a:endParaRPr lang="en-US" sz="1100" dirty="0"/>
          </a:p>
        </p:txBody>
      </p:sp>
      <p:sp>
        <p:nvSpPr>
          <p:cNvPr id="29" name="Repère"/>
          <p:cNvSpPr/>
          <p:nvPr/>
        </p:nvSpPr>
        <p:spPr>
          <a:xfrm>
            <a:off x="658368" y="5550408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0" name="Cellule"/>
          <p:cNvSpPr/>
          <p:nvPr/>
        </p:nvSpPr>
        <p:spPr>
          <a:xfrm>
            <a:off x="960120" y="5257800"/>
            <a:ext cx="1965960" cy="69494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97280" y="53309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 5</a:t>
            </a:r>
            <a:endParaRPr lang="en-US" sz="1000" dirty="0"/>
          </a:p>
        </p:txBody>
      </p:sp>
      <p:sp>
        <p:nvSpPr>
          <p:cNvPr id="32" name="Cadre"/>
          <p:cNvSpPr/>
          <p:nvPr/>
        </p:nvSpPr>
        <p:spPr>
          <a:xfrm>
            <a:off x="3108960" y="5257800"/>
            <a:ext cx="8534095" cy="694944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46120" y="5257800"/>
            <a:ext cx="8259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lignes qui décrivent l'élément et sa contribution à la conclusion du titre.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tendance que montre le graphique, avec le chiffre clé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GRAPHIQUE ET COMMENTAIRE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ILLUSTRATIF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EST MESURÉ, UNITÉ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548640" y="1810512"/>
            <a:ext cx="74066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adre"/>
          <p:cNvSpPr/>
          <p:nvPr/>
        </p:nvSpPr>
        <p:spPr>
          <a:xfrm>
            <a:off x="8321040" y="1554480"/>
            <a:ext cx="3322015" cy="448056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16459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COMMENTAIRE</a:t>
            </a:r>
            <a:endParaRPr lang="en-US" sz="900" dirty="0"/>
          </a:p>
        </p:txBody>
      </p:sp>
      <p:sp>
        <p:nvSpPr>
          <p:cNvPr id="12" name="Filet"/>
          <p:cNvSpPr/>
          <p:nvPr/>
        </p:nvSpPr>
        <p:spPr>
          <a:xfrm>
            <a:off x="8503920" y="1993392"/>
            <a:ext cx="295625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3920" y="2194560"/>
            <a:ext cx="29562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point principal que montre la barre nuit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facteur qui l'explique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cela implique pour la décision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l'option retenue et le critère qui fait la différence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TABLEAU COMPARATIF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487139"/>
                <a:gridCol w="2869092"/>
                <a:gridCol w="2869092"/>
                <a:gridCol w="28690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Option 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Option 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Option retenue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 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 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 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 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ou chiffre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Verdict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Écartée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Écartée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Retenue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comment le processus fonctionne et où l'équipe intervient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PROCESSUS EN ÉTAPES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934" y="235000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2254" y="160020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9414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62374" y="178308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39414" y="237744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1548" y="235000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55868" y="160020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3028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215988" y="178308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93028" y="237744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35161" y="235000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09481" y="1600200"/>
            <a:ext cx="2533574" cy="1508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6641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069601" y="178308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46641" y="237744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09481" y="361188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46641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069601" y="379476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46641" y="438912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35161" y="436168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255868" y="361188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93028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7215988" y="379476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93028" y="438912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1548" y="436168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3402254" y="3611880"/>
            <a:ext cx="2533574" cy="1508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39414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4362374" y="379476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539414" y="438912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27934" y="4361688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48640" y="3611880"/>
            <a:ext cx="2533574" cy="1508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580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1508760" y="3794760"/>
            <a:ext cx="14820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38912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passe, qui agit, ce qui en sort.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376268" y="3127248"/>
            <a:ext cx="0" cy="4572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48640" y="5806440"/>
            <a:ext cx="201168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1248" y="5788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Automatique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5806440"/>
            <a:ext cx="201168" cy="2011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584448" y="5788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 humaine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notre position sur les deux axes qui comptent pour le client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MATRICE 2 × 2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date. Positionnement qualitatif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1600200"/>
            <a:ext cx="3108960" cy="2011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Quadrant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3108960" cy="201168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15968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Quadrant cible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3108960" cy="2011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Quadrant 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3703320"/>
            <a:ext cx="3108960" cy="2011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15968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Quadrant 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8064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Axe horizontal : faible  →  fort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" y="1600200"/>
            <a:ext cx="274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Axe vertical : faible  →  fort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37944" y="4535424"/>
            <a:ext cx="164592" cy="1645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84832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Acteur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86584" y="2432304"/>
            <a:ext cx="164592" cy="1645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33472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Acteur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46904" y="4718304"/>
            <a:ext cx="164592" cy="1645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93792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Acteur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9784" y="2523744"/>
            <a:ext cx="164592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76672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146304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LECTURE</a:t>
            </a:r>
            <a:endParaRPr lang="en-US" sz="900" dirty="0"/>
          </a:p>
        </p:txBody>
      </p:sp>
      <p:sp>
        <p:nvSpPr>
          <p:cNvPr id="24" name="Filet"/>
          <p:cNvSpPr/>
          <p:nvPr/>
        </p:nvSpPr>
        <p:spPr>
          <a:xfrm>
            <a:off x="7772400" y="1810512"/>
            <a:ext cx="387065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011680"/>
            <a:ext cx="38706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signifie le quadrant cible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les autres acteurs n'y sont pas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nous y maintient dans la durée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ce qui sera livré, dans quel ordre et à quelle condition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FEUILLE DE ROUTE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Calendrier indicatif</a:t>
            </a:r>
            <a:endParaRPr lang="en-US" sz="900" dirty="0"/>
          </a:p>
        </p:txBody>
      </p:sp>
      <p:sp>
        <p:nvSpPr>
          <p:cNvPr id="5" name="Bandeau"/>
          <p:cNvSpPr/>
          <p:nvPr/>
        </p:nvSpPr>
        <p:spPr>
          <a:xfrm>
            <a:off x="2953512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90672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1</a:t>
            </a:r>
            <a:endParaRPr lang="en-US" sz="900" dirty="0"/>
          </a:p>
        </p:txBody>
      </p:sp>
      <p:sp>
        <p:nvSpPr>
          <p:cNvPr id="7" name="Bandeau"/>
          <p:cNvSpPr/>
          <p:nvPr/>
        </p:nvSpPr>
        <p:spPr>
          <a:xfrm>
            <a:off x="4406341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43501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2</a:t>
            </a:r>
            <a:endParaRPr lang="en-US" sz="900" dirty="0"/>
          </a:p>
        </p:txBody>
      </p:sp>
      <p:sp>
        <p:nvSpPr>
          <p:cNvPr id="9" name="Bandeau"/>
          <p:cNvSpPr/>
          <p:nvPr/>
        </p:nvSpPr>
        <p:spPr>
          <a:xfrm>
            <a:off x="5859170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96330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3</a:t>
            </a:r>
            <a:endParaRPr lang="en-US" sz="900" dirty="0"/>
          </a:p>
        </p:txBody>
      </p:sp>
      <p:sp>
        <p:nvSpPr>
          <p:cNvPr id="11" name="Bandeau"/>
          <p:cNvSpPr/>
          <p:nvPr/>
        </p:nvSpPr>
        <p:spPr>
          <a:xfrm>
            <a:off x="7312000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49160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4</a:t>
            </a:r>
            <a:endParaRPr lang="en-US" sz="900" dirty="0"/>
          </a:p>
        </p:txBody>
      </p:sp>
      <p:sp>
        <p:nvSpPr>
          <p:cNvPr id="13" name="Bandeau"/>
          <p:cNvSpPr/>
          <p:nvPr/>
        </p:nvSpPr>
        <p:spPr>
          <a:xfrm>
            <a:off x="8764829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01989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5</a:t>
            </a:r>
            <a:endParaRPr lang="en-US" sz="900" dirty="0"/>
          </a:p>
        </p:txBody>
      </p:sp>
      <p:sp>
        <p:nvSpPr>
          <p:cNvPr id="15" name="Bandeau"/>
          <p:cNvSpPr/>
          <p:nvPr/>
        </p:nvSpPr>
        <p:spPr>
          <a:xfrm>
            <a:off x="10217658" y="1508760"/>
            <a:ext cx="1397965" cy="3108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54818" y="1508760"/>
            <a:ext cx="1123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6</a:t>
            </a:r>
            <a:endParaRPr lang="en-US" sz="900" dirty="0"/>
          </a:p>
        </p:txBody>
      </p:sp>
      <p:sp>
        <p:nvSpPr>
          <p:cNvPr id="17" name="Cellule"/>
          <p:cNvSpPr/>
          <p:nvPr/>
        </p:nvSpPr>
        <p:spPr>
          <a:xfrm>
            <a:off x="548640" y="1965960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20391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Chantier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53512" y="1965960"/>
            <a:ext cx="8689543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953512" y="2039112"/>
            <a:ext cx="2850794" cy="3566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35808" y="2039112"/>
            <a:ext cx="2722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</a:t>
            </a:r>
            <a:endParaRPr lang="en-US" sz="900" dirty="0"/>
          </a:p>
        </p:txBody>
      </p:sp>
      <p:sp>
        <p:nvSpPr>
          <p:cNvPr id="22" name="Cellule"/>
          <p:cNvSpPr/>
          <p:nvPr/>
        </p:nvSpPr>
        <p:spPr>
          <a:xfrm>
            <a:off x="548640" y="2606040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267919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Chantier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53512" y="2606040"/>
            <a:ext cx="8689543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406341" y="2679192"/>
            <a:ext cx="4303624" cy="3566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8637" y="2679192"/>
            <a:ext cx="4175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</a:t>
            </a:r>
            <a:endParaRPr lang="en-US" sz="900" dirty="0"/>
          </a:p>
        </p:txBody>
      </p:sp>
      <p:sp>
        <p:nvSpPr>
          <p:cNvPr id="27" name="Cellule"/>
          <p:cNvSpPr/>
          <p:nvPr/>
        </p:nvSpPr>
        <p:spPr>
          <a:xfrm>
            <a:off x="548640" y="3246120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331927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Jalon clé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53512" y="3246120"/>
            <a:ext cx="8689543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2000" y="3319272"/>
            <a:ext cx="1397965" cy="3566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94296" y="3319272"/>
            <a:ext cx="126994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</a:t>
            </a:r>
            <a:endParaRPr lang="en-US" sz="900" dirty="0"/>
          </a:p>
        </p:txBody>
      </p:sp>
      <p:sp>
        <p:nvSpPr>
          <p:cNvPr id="32" name="Cellule"/>
          <p:cNvSpPr/>
          <p:nvPr/>
        </p:nvSpPr>
        <p:spPr>
          <a:xfrm>
            <a:off x="548640" y="3886200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395935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Chantier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53512" y="3886200"/>
            <a:ext cx="8689543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5" name="Shape 33"/>
          <p:cNvSpPr/>
          <p:nvPr/>
        </p:nvSpPr>
        <p:spPr>
          <a:xfrm>
            <a:off x="8764829" y="3959352"/>
            <a:ext cx="2850794" cy="356616"/>
          </a:xfrm>
          <a:prstGeom prst="rect">
            <a:avLst/>
          </a:prstGeom>
          <a:solidFill>
            <a:srgbClr val="3A4A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847125" y="3959352"/>
            <a:ext cx="2722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</a:t>
            </a:r>
            <a:endParaRPr lang="en-US" sz="900" dirty="0"/>
          </a:p>
        </p:txBody>
      </p:sp>
      <p:sp>
        <p:nvSpPr>
          <p:cNvPr id="37" name="Cadre"/>
          <p:cNvSpPr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754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 de passage 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doit être prouvé avant de lancer l'étape suivante.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les trois leviers qui déterminent le résultat, et celui qui pèse le plus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ARBRE DE VALEUR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ou hypothèse pour chaque valeur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7" name="Bandeau"/>
          <p:cNvSpPr/>
          <p:nvPr/>
        </p:nvSpPr>
        <p:spPr>
          <a:xfrm>
            <a:off x="548640" y="3337560"/>
            <a:ext cx="256032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 (UNITÉ)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3749040"/>
            <a:ext cx="27432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914" cy="329184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27432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2" name="Bandeau"/>
          <p:cNvSpPr/>
          <p:nvPr/>
        </p:nvSpPr>
        <p:spPr>
          <a:xfrm>
            <a:off x="3657600" y="1691640"/>
            <a:ext cx="3291840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94760" y="1691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LEVIER 1</a:t>
            </a:r>
            <a:endParaRPr lang="en-US" sz="900" dirty="0"/>
          </a:p>
        </p:txBody>
      </p:sp>
      <p:sp>
        <p:nvSpPr>
          <p:cNvPr id="14" name="Cellule"/>
          <p:cNvSpPr/>
          <p:nvPr/>
        </p:nvSpPr>
        <p:spPr>
          <a:xfrm>
            <a:off x="3657600" y="2075688"/>
            <a:ext cx="329184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94760" y="214884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formule ou définition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103120"/>
            <a:ext cx="54864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7" name="Cadre"/>
          <p:cNvSpPr/>
          <p:nvPr/>
        </p:nvSpPr>
        <p:spPr>
          <a:xfrm>
            <a:off x="7498080" y="1691640"/>
            <a:ext cx="4144975" cy="88696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1691640"/>
            <a:ext cx="38706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ou hypothèse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749040"/>
            <a:ext cx="27432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0" name="Bandeau"/>
          <p:cNvSpPr/>
          <p:nvPr/>
        </p:nvSpPr>
        <p:spPr>
          <a:xfrm>
            <a:off x="3657600" y="3337560"/>
            <a:ext cx="3291840" cy="347472"/>
          </a:xfrm>
          <a:prstGeom prst="rect">
            <a:avLst/>
          </a:prstGeom>
          <a:solidFill>
            <a:srgbClr val="3A4A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9476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LEVIER 2</a:t>
            </a:r>
            <a:endParaRPr lang="en-US" sz="900" dirty="0"/>
          </a:p>
        </p:txBody>
      </p:sp>
      <p:sp>
        <p:nvSpPr>
          <p:cNvPr id="22" name="Cellule"/>
          <p:cNvSpPr/>
          <p:nvPr/>
        </p:nvSpPr>
        <p:spPr>
          <a:xfrm>
            <a:off x="3657600" y="3721608"/>
            <a:ext cx="329184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94760" y="379476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formule ou définition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3749040"/>
            <a:ext cx="54864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5" name="Cadre"/>
          <p:cNvSpPr/>
          <p:nvPr/>
        </p:nvSpPr>
        <p:spPr>
          <a:xfrm>
            <a:off x="7498080" y="3337560"/>
            <a:ext cx="4144975" cy="88696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3337560"/>
            <a:ext cx="38706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ou hypothèse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5394960"/>
            <a:ext cx="27432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8" name="Bandeau"/>
          <p:cNvSpPr/>
          <p:nvPr/>
        </p:nvSpPr>
        <p:spPr>
          <a:xfrm>
            <a:off x="3657600" y="4983480"/>
            <a:ext cx="3291840" cy="347472"/>
          </a:xfrm>
          <a:prstGeom prst="rect">
            <a:avLst/>
          </a:prstGeom>
          <a:solidFill>
            <a:srgbClr val="3A4A6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794760" y="4983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LEVIER 3</a:t>
            </a:r>
            <a:endParaRPr lang="en-US" sz="900" dirty="0"/>
          </a:p>
        </p:txBody>
      </p:sp>
      <p:sp>
        <p:nvSpPr>
          <p:cNvPr id="30" name="Cellule"/>
          <p:cNvSpPr/>
          <p:nvPr/>
        </p:nvSpPr>
        <p:spPr>
          <a:xfrm>
            <a:off x="3657600" y="5367528"/>
            <a:ext cx="329184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94760" y="544068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formule ou définition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5394960"/>
            <a:ext cx="548640" cy="91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33" name="Cadre"/>
          <p:cNvSpPr/>
          <p:nvPr/>
        </p:nvSpPr>
        <p:spPr>
          <a:xfrm>
            <a:off x="7498080" y="4983480"/>
            <a:ext cx="4144975" cy="88696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35240" y="4983480"/>
            <a:ext cx="38706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ou hypothèse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ce que disent les quatre indicateurs clés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CHIFFRES CLÉS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un organisme par chiffre, avec la date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36444" cy="21031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00 %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mesure le chiffre</a:t>
            </a:r>
            <a:endParaRPr lang="en-US" sz="1000" dirty="0"/>
          </a:p>
        </p:txBody>
      </p:sp>
      <p:sp>
        <p:nvSpPr>
          <p:cNvPr id="9" name="Cellule"/>
          <p:cNvSpPr/>
          <p:nvPr/>
        </p:nvSpPr>
        <p:spPr>
          <a:xfrm>
            <a:off x="548640" y="3749040"/>
            <a:ext cx="2636444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3822192"/>
            <a:ext cx="23621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Périmètre, année, statut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67964" y="1554480"/>
            <a:ext cx="2636444" cy="21031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2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64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0844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000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550844" y="30175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mesure le chiffre</a:t>
            </a:r>
            <a:endParaRPr lang="en-US" sz="1000" dirty="0"/>
          </a:p>
        </p:txBody>
      </p:sp>
      <p:sp>
        <p:nvSpPr>
          <p:cNvPr id="15" name="Cellule"/>
          <p:cNvSpPr/>
          <p:nvPr/>
        </p:nvSpPr>
        <p:spPr>
          <a:xfrm>
            <a:off x="3367964" y="3749040"/>
            <a:ext cx="2636444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505124" y="3822192"/>
            <a:ext cx="23621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Périmètre, année, statut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87288" y="1554480"/>
            <a:ext cx="2636444" cy="21031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mage 2" descr="Alert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70168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 M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6370168" y="30175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mesure le chiffre</a:t>
            </a:r>
            <a:endParaRPr lang="en-US" sz="1000" dirty="0"/>
          </a:p>
        </p:txBody>
      </p:sp>
      <p:sp>
        <p:nvSpPr>
          <p:cNvPr id="21" name="Cellule"/>
          <p:cNvSpPr/>
          <p:nvPr/>
        </p:nvSpPr>
        <p:spPr>
          <a:xfrm>
            <a:off x="6187288" y="3749040"/>
            <a:ext cx="2636444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324448" y="3822192"/>
            <a:ext cx="23621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Périmètre, année, statut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06611" y="1554480"/>
            <a:ext cx="2636444" cy="21031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4" name="Image 3" descr="Trending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211" y="17830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9491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×0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189491" y="30175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mesure le chiffre</a:t>
            </a:r>
            <a:endParaRPr lang="en-US" sz="1000" dirty="0"/>
          </a:p>
        </p:txBody>
      </p:sp>
      <p:sp>
        <p:nvSpPr>
          <p:cNvPr id="27" name="Cellule"/>
          <p:cNvSpPr/>
          <p:nvPr/>
        </p:nvSpPr>
        <p:spPr>
          <a:xfrm>
            <a:off x="9006611" y="3749040"/>
            <a:ext cx="2636444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143771" y="3822192"/>
            <a:ext cx="23621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Périmètre, année, statut</a:t>
            </a:r>
            <a:endParaRPr lang="en-US" sz="1000" dirty="0"/>
          </a:p>
        </p:txBody>
      </p:sp>
      <p:sp>
        <p:nvSpPr>
          <p:cNvPr id="29" name="Cadre"/>
          <p:cNvSpPr/>
          <p:nvPr/>
        </p:nvSpPr>
        <p:spPr>
          <a:xfrm>
            <a:off x="548640" y="4572000"/>
            <a:ext cx="11094415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45720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ou deux phrases qui relient les chiffres à la conclusion du titre.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les décisions attendues aujourd'hui et ce qui se passe ensuite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· PROCHAINES ÉTAPES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DÉCISIONS ATTENDUES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545576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45720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Cellule"/>
          <p:cNvSpPr/>
          <p:nvPr/>
        </p:nvSpPr>
        <p:spPr>
          <a:xfrm>
            <a:off x="1051560" y="196596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03911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Décision, et qui la prend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5720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Cellule"/>
          <p:cNvSpPr/>
          <p:nvPr/>
        </p:nvSpPr>
        <p:spPr>
          <a:xfrm>
            <a:off x="1051560" y="292608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299923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Décision, et qui la prend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45720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Cellule"/>
          <p:cNvSpPr/>
          <p:nvPr/>
        </p:nvSpPr>
        <p:spPr>
          <a:xfrm>
            <a:off x="1051560" y="388620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395935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Décision, et qui la prend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45720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46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Cellule"/>
          <p:cNvSpPr/>
          <p:nvPr/>
        </p:nvSpPr>
        <p:spPr>
          <a:xfrm>
            <a:off x="1051560" y="484632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491947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Décision, et qui la prend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87288" y="14630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24" name="Filet"/>
          <p:cNvSpPr/>
          <p:nvPr/>
        </p:nvSpPr>
        <p:spPr>
          <a:xfrm>
            <a:off x="6187288" y="1810512"/>
            <a:ext cx="545576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1965960"/>
            <a:ext cx="4572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87288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Cellule"/>
          <p:cNvSpPr/>
          <p:nvPr/>
        </p:nvSpPr>
        <p:spPr>
          <a:xfrm>
            <a:off x="6690208" y="196596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27368" y="203911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· responsable ·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7288" y="2926080"/>
            <a:ext cx="4572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87288" y="2926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Cellule"/>
          <p:cNvSpPr/>
          <p:nvPr/>
        </p:nvSpPr>
        <p:spPr>
          <a:xfrm>
            <a:off x="6690208" y="292608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27368" y="299923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· responsable · 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7288" y="3886200"/>
            <a:ext cx="4572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87288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Cellule"/>
          <p:cNvSpPr/>
          <p:nvPr/>
        </p:nvSpPr>
        <p:spPr>
          <a:xfrm>
            <a:off x="6690208" y="388620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27368" y="395935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· responsable · date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7288" y="4846320"/>
            <a:ext cx="4572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87288" y="4846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Cellule"/>
          <p:cNvSpPr/>
          <p:nvPr/>
        </p:nvSpPr>
        <p:spPr>
          <a:xfrm>
            <a:off x="6690208" y="4846320"/>
            <a:ext cx="4952848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27368" y="4919472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· responsable ·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 impact</a:t>
            </a:r>
            <a:endParaRPr lang="en-US" sz="3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les moments forts : ouverture, chiffre clé, démonstration, conclusion. Un ou deux par présentation.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back office for off-plan developers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 briefing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CONFIDENTIEL ·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0" cy="3017520"/>
          </a:xfrm>
          <a:prstGeom prst="line">
            <a:avLst/>
          </a:prstGeom>
          <a:noFill/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737360"/>
            <a:ext cx="3502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72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هالدن</a:t>
            </a:r>
            <a:endParaRPr lang="ar-AE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3375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وعد، حتى يتحقق</a:t>
            </a:r>
            <a:endParaRPr lang="ar-AE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4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vente est la partie facile.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30 mois qui suivent sont le vrai travail.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tiers des ventes immobilières de Dubaï se font sur plan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 OFF-PLAN DE DUBAÏ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DXB Interact (données Dubai Land Department)</a:t>
            </a:r>
            <a:endParaRPr lang="en-US" sz="900" dirty="0"/>
          </a:p>
        </p:txBody>
      </p:sp>
      <p:sp>
        <p:nvSpPr>
          <p:cNvPr id="5" name="!!hero"/>
          <p:cNvSpPr txBox="1"/>
          <p:nvPr/>
        </p:nvSpPr>
        <p:spPr>
          <a:xfrm>
            <a:off x="502920" y="1828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686,8 Md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· VENTES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09728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177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ventes immobilières à Dubaï en 2025, dont environ deux tiers off-plan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L'off-plan domine encore les achats à Dubaï, porté par des centaines de nouveaux promoteurs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 OFF-PLAN DE DUBAÏ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Cavendish Maxwell via The National ; TradeArabia ; Gulf News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240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OFF-PLAN · T3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de l'off-plan dans les achats immobiliers à Dubaï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46778" y="2103120"/>
            <a:ext cx="0" cy="3291840"/>
          </a:xfrm>
          <a:prstGeom prst="line">
            <a:avLst/>
          </a:prstGeom>
          <a:noFill/>
          <a:ln w="9525">
            <a:solidFill>
              <a:srgbClr val="C9A86A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011680"/>
            <a:ext cx="3240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937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5204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PROJETS · 2025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9776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projets en construction à Dubaï, +25 % sur un 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44917" y="2103120"/>
            <a:ext cx="0" cy="3291840"/>
          </a:xfrm>
          <a:prstGeom prst="line">
            <a:avLst/>
          </a:prstGeom>
          <a:noFill/>
          <a:ln w="9525">
            <a:solidFill>
              <a:srgbClr val="C9A86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6397" y="2011680"/>
            <a:ext cx="3240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186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35204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PROMOTEURS ·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39776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nouveaux promoteurs sur les sept premiers mois de l'année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TRAVAIL APRÈS CHAQUE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 Halden, à confirmer en entretiens avec des équipes finance</a:t>
            </a:r>
            <a:endParaRPr lang="en-US" sz="900" dirty="0"/>
          </a:p>
        </p:txBody>
      </p:sp>
      <p:sp>
        <p:nvSpPr>
          <p:cNvPr id="5" name="!!chiffre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18000" dirty="0"/>
          </a:p>
        </p:txBody>
      </p:sp>
      <p:sp>
        <p:nvSpPr>
          <p:cNvPr id="6" name="!!legende"/>
          <p:cNvSpPr txBox="1"/>
          <p:nvPr/>
        </p:nvSpPr>
        <p:spPr>
          <a:xfrm>
            <a:off x="1828800" y="4572000"/>
            <a:ext cx="8534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demandes de paiement à chaque jalon d'une tour de 300 acheteurs (exemple)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hypothèse : chaque jalon certifié laisse quatre tâches manuelles à l'équipe finance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TRAVAIL APRÈS CHAQUE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 Halden, à confirmer en entretiens avec des équipes finance</a:t>
            </a:r>
            <a:endParaRPr lang="en-US" sz="900" dirty="0"/>
          </a:p>
        </p:txBody>
      </p:sp>
      <p:sp>
        <p:nvSpPr>
          <p:cNvPr id="5" name="!!chiffre"/>
          <p:cNvSpPr txBox="1"/>
          <p:nvPr/>
        </p:nvSpPr>
        <p:spPr>
          <a:xfrm>
            <a:off x="548640" y="15544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7200" dirty="0"/>
          </a:p>
        </p:txBody>
      </p:sp>
      <p:sp>
        <p:nvSpPr>
          <p:cNvPr id="6" name="!!legende"/>
          <p:cNvSpPr txBox="1"/>
          <p:nvPr/>
        </p:nvSpPr>
        <p:spPr>
          <a:xfrm>
            <a:off x="54864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demandes de paiement à chaque jalon d'une tour de 300 acheteurs (exemple)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600200"/>
            <a:ext cx="1767764" cy="4480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8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2697480"/>
            <a:ext cx="1219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333756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3520440"/>
            <a:ext cx="12191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échéance d'acheteur, à partir de son propre plan de paiement, dès que le jalon est certifié.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74004" y="1600200"/>
            <a:ext cx="1767764" cy="4480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13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044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48324" y="2697480"/>
            <a:ext cx="1219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48324" y="333756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48324" y="3520440"/>
            <a:ext cx="12191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virement entrant avec le bon acheteur, souvent avec une référence manquante ou fausse.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24648" y="1600200"/>
            <a:ext cx="1767764" cy="4480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18" name="Image 2" descr="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688" y="1920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98968" y="2697480"/>
            <a:ext cx="1219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Relancer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98968" y="333756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98968" y="3520440"/>
            <a:ext cx="12191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acheteurs en retard, dans leur langue, sans abîmer la relation commerciale.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875291" y="1600200"/>
            <a:ext cx="1767764" cy="4480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pic>
        <p:nvPicPr>
          <p:cNvPr id="23" name="Image 3" descr="Arc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331" y="19202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49611" y="2697480"/>
            <a:ext cx="1219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149611" y="333756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0149611" y="3520440"/>
            <a:ext cx="12191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dossier propre pour le compte escrow du projet, les auditeurs et les litiges.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pilote couvre une seule étape du parcours acheteur : les paiements échelonnés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PARCOURS D'UN ACHETEUR OFF-PLAN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conception Halden. Seule l'étape 3 est dans le pilote ; les autres sont une vision, pas un produit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12700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023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9092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97709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489149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 et Oqood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489149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0–2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34869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5553" y="3566160"/>
            <a:ext cx="731520" cy="731520"/>
          </a:xfrm>
          <a:prstGeom prst="ellipse">
            <a:avLst/>
          </a:prstGeom>
          <a:solidFill>
            <a:srgbClr val="C9A86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338218" y="1828800"/>
            <a:ext cx="1666189" cy="1417320"/>
          </a:xfrm>
          <a:prstGeom prst="rect">
            <a:avLst/>
          </a:prstGeom>
          <a:solidFill>
            <a:srgbClr val="C9A86A">
              <a:alpha val="1200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9658" y="1938528"/>
            <a:ext cx="148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D'ENTRÉE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29658" y="2240280"/>
            <a:ext cx="14833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jalon certifié, chaque demande d'acheteur, chaque virement rapproché.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71313" y="3246120"/>
            <a:ext cx="0" cy="50292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2441" y="3813048"/>
            <a:ext cx="237744" cy="237744"/>
          </a:xfrm>
          <a:prstGeom prst="ellipse">
            <a:avLst/>
          </a:prstGeom>
          <a:solidFill>
            <a:srgbClr val="C9A86A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46778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338218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Paiements échelonnés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38218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1–30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83938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pilote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7230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95848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187288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Chantier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87288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 1–30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33008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96299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44917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036357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Livraison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036357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 LE MOIS 30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082077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645369" y="3858768"/>
            <a:ext cx="146304" cy="146304"/>
          </a:xfrm>
          <a:prstGeom prst="ellipse">
            <a:avLst/>
          </a:prstGeom>
          <a:solidFill>
            <a:srgbClr val="0B1426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93986" y="4251960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885426" y="47091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885426" y="5230368"/>
            <a:ext cx="1666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ANNÉES 1–10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931146" y="5532120"/>
            <a:ext cx="1574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 fictif : les acheteurs en retard de plus de 10 jours, sans et avec Halden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ENCAISSEMENT D'UN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Courbes inventées pour montrer le modèle. Ne jamais les présenter comme un résultat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832543" y="347472"/>
            <a:ext cx="1810512" cy="237744"/>
          </a:xfrm>
          <a:prstGeom prst="rect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32543" y="34747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 FICTIF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ACHETEURS EN RETARD DE PLUS DE 10 JOURS, % DES ACHETEURS APPELÉS, PAR SEMAINE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7589520" cy="0"/>
          </a:xfrm>
          <a:prstGeom prst="line">
            <a:avLst/>
          </a:prstGeom>
          <a:noFill/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201168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686800" y="2121408"/>
            <a:ext cx="457200" cy="0"/>
          </a:xfrm>
          <a:prstGeom prst="line">
            <a:avLst/>
          </a:prstGeom>
          <a:noFill/>
          <a:ln w="38100">
            <a:solidFill>
              <a:srgbClr val="8C96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81160" y="2011680"/>
            <a:ext cx="2361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AUJOURD'HUI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3774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15468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retard à S6 (fictif)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0" y="4041648"/>
            <a:ext cx="457200" cy="0"/>
          </a:xfrm>
          <a:prstGeom prst="line">
            <a:avLst/>
          </a:prstGeom>
          <a:noFill/>
          <a:ln w="38100">
            <a:solidFill>
              <a:srgbClr val="C9A8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81160" y="3931920"/>
            <a:ext cx="2361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 HALDEN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429768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7 %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07492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retard à S6 (fictif)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notre démo, 14 virements sur 19 sont rapprochés sans humain ; les 5 autres vont au directeur financier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RAPPROCHEMENT BANCAIRE D'UN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POC Halden v0.2, « python -m halden demo » (tour fictive de 32 acheteurs, données inventées)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· FICTIF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REÇUS SUR UN JALON, NOMBRE (DÉMO, DONNÉES INVENTÉES)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548640" y="1764792"/>
            <a:ext cx="768096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3486" y="2331720"/>
            <a:ext cx="1190549" cy="31089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060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488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reçus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4034" y="2331720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33726" y="2331720"/>
            <a:ext cx="1190549" cy="2290813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084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512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Rapprochés sans humain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4274" y="4622533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3966" y="4622533"/>
            <a:ext cx="1190549" cy="654518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1086" y="4238485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536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Validés par la CFO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4514" y="5277051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674206" y="5277051"/>
            <a:ext cx="1190549" cy="163629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1326" y="4893003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560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Refusé à raison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7680960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1600200"/>
            <a:ext cx="2956255" cy="4526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0" y="1874520"/>
            <a:ext cx="2407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8961120" y="3063240"/>
            <a:ext cx="73152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0" y="3246120"/>
            <a:ext cx="24076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parti vers un acheteur sans validation. Le virement refusé portait la référence d'un autre acheteur.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notre démo, 74 % des virements (14 sur 19) sont rapprochés sans humain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RAPPROCHEMENT BANCAIRE D'UN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POC Halden v0.2, « python -m halden demo » (tour fictive de 32 acheteurs, données inventées)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· FICTIF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69164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74 %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SANS HUMAIN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17373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rapprochés sans humain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2834640"/>
            <a:ext cx="5973775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1089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validés par la CFO après vérification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4206240"/>
            <a:ext cx="5973775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0" y="4480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4805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refusé : référence d'un autre acheteur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notre démo, la vue CFO montre l'argent du jalon et les décisions qui attendent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DU DIRECTEUR FINANCIER · DÉMO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POC Halden v0.2, « python -m halden demo » (tour fictive de 32 acheteurs, données inventées)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· FICTIF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36444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2179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ENCAISSÉ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42,6 M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cumulés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136392"/>
            <a:ext cx="2179244" cy="54864"/>
          </a:xfrm>
          <a:prstGeom prst="rect">
            <a:avLst/>
          </a:prstGeom>
          <a:solidFill>
            <a:srgbClr val="1E2B4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36392"/>
            <a:ext cx="1961319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7964" y="1600200"/>
            <a:ext cx="2636444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96564" y="1783080"/>
            <a:ext cx="2179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RESTE APPELÉ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96564" y="205740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4,8 M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3596564" y="274320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à encaisser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96564" y="3136392"/>
            <a:ext cx="2179244" cy="54864"/>
          </a:xfrm>
          <a:prstGeom prst="rect">
            <a:avLst/>
          </a:prstGeom>
          <a:solidFill>
            <a:srgbClr val="1E2B45"/>
          </a:solidFill>
          <a:ln/>
        </p:spPr>
      </p:sp>
      <p:sp>
        <p:nvSpPr>
          <p:cNvPr id="18" name="Shape 16"/>
          <p:cNvSpPr/>
          <p:nvPr/>
        </p:nvSpPr>
        <p:spPr>
          <a:xfrm>
            <a:off x="3596564" y="3136392"/>
            <a:ext cx="217924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7288" y="1600200"/>
            <a:ext cx="2636444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5888" y="1783080"/>
            <a:ext cx="2179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RETARD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205740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3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415888" y="274320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échéances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15888" y="3136392"/>
            <a:ext cx="2179244" cy="54864"/>
          </a:xfrm>
          <a:prstGeom prst="rect">
            <a:avLst/>
          </a:prstGeom>
          <a:solidFill>
            <a:srgbClr val="1E2B4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5888" y="3136392"/>
            <a:ext cx="653773" cy="54864"/>
          </a:xfrm>
          <a:prstGeom prst="rect">
            <a:avLst/>
          </a:prstGeom>
          <a:solidFill>
            <a:srgbClr val="F0A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06611" y="1600200"/>
            <a:ext cx="2636444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9A86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35211" y="1783080"/>
            <a:ext cx="2179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235211" y="205740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235211" y="274320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décisions 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35211" y="3136392"/>
            <a:ext cx="2179244" cy="54864"/>
          </a:xfrm>
          <a:prstGeom prst="rect">
            <a:avLst/>
          </a:prstGeom>
          <a:solidFill>
            <a:srgbClr val="1E2B45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5211" y="3136392"/>
            <a:ext cx="435849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6576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MONTANTS EN RETARD PAR ANCIENNETÉ, M AED (DÉMO)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005072"/>
            <a:ext cx="11094415" cy="0"/>
          </a:xfrm>
          <a:prstGeom prst="line">
            <a:avLst/>
          </a:prstGeom>
          <a:noFill/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graphicFrame>
        <p:nvGraphicFramePr>
          <p:cNvPr id="33" name="Chart 0" descr=""/>
          <p:cNvGraphicFramePr/>
          <p:nvPr/>
        </p:nvGraphicFramePr>
        <p:xfrm>
          <a:off x="457200" y="4114800"/>
          <a:ext cx="11277295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Avec Halden, les encaissements passent d'outils éparpillés à une file d'approbation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BACK-OFFICE APRÈS LA VENTE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conception Halden ; colonne de gauche = notre hypothèse. Produit en développement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42271" y="34747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CIBLE PRODUIT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9202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SUPPOSONS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19202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AVEC HALDEN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359152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359152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Appels de fonds refaits à chaque jalon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10248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Appels prêts dès le jalon certifié, approuvés par l'équipe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255264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8768" y="3255264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36499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rapprochés ligne à ligne, références manquantes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98768" y="336499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0248" y="336499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Rapprochements exacts faits ; les incertains en tête de file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151376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8768" y="4151376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6110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261104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Relances une langue à la fois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98768" y="426110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4261104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Brouillons dans la langue de l'acheteur, validés avant envoi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047488"/>
            <a:ext cx="4678528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5047488"/>
            <a:ext cx="4678528" cy="0"/>
          </a:xfrm>
          <a:prstGeom prst="line">
            <a:avLst/>
          </a:prstGeom>
          <a:noFill/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15721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157216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Dossiers éparpillés au moment de l'audit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98768" y="515721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5157216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action tracée, dossier escrow prêt pour l'audit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12384" y="3579876"/>
            <a:ext cx="566928" cy="566928"/>
          </a:xfrm>
          <a:prstGeom prst="ellipse">
            <a:avLst/>
          </a:prstGeom>
          <a:solidFill>
            <a:srgbClr val="8A6A3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6" name="Image 0" descr="Flè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00" y="370789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seul moteur, un pack par pays : Dubaï en préparation, le reste seulement après un pilote réussi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 PAR PAYS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Schéma, distances non à l'échelle. Statuts au 25 octobre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54680" y="3108960"/>
            <a:ext cx="1737360" cy="1737360"/>
          </a:xfrm>
          <a:prstGeom prst="ellipse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331720"/>
            <a:ext cx="3291840" cy="3291840"/>
          </a:xfrm>
          <a:prstGeom prst="ellipse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00200"/>
            <a:ext cx="4754880" cy="4754880"/>
          </a:xfrm>
          <a:prstGeom prst="ellipse">
            <a:avLst/>
          </a:prstGeom>
          <a:solidFill>
            <a:srgbClr val="0B1426">
              <a:alpha val="0"/>
            </a:srgbClr>
          </a:solidFill>
          <a:ln w="9525">
            <a:solidFill>
              <a:srgbClr val="C9A86A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3566160"/>
            <a:ext cx="822960" cy="822960"/>
          </a:xfrm>
          <a:prstGeom prst="ellipse">
            <a:avLst/>
          </a:prstGeom>
          <a:solidFill>
            <a:srgbClr val="C9A86A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13632" y="3867912"/>
            <a:ext cx="219456" cy="219456"/>
          </a:xfrm>
          <a:prstGeom prst="ellipse">
            <a:avLst/>
          </a:prstGeom>
          <a:solidFill>
            <a:srgbClr val="C9A86A"/>
          </a:solidFill>
          <a:ln/>
        </p:spPr>
      </p:sp>
      <p:sp>
        <p:nvSpPr>
          <p:cNvPr id="10" name="Shape 8"/>
          <p:cNvSpPr/>
          <p:nvPr/>
        </p:nvSpPr>
        <p:spPr>
          <a:xfrm>
            <a:off x="3401568" y="4854760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479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Arabie saoudite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8853" y="2852928"/>
            <a:ext cx="146304" cy="146304"/>
          </a:xfrm>
          <a:prstGeom prst="ellipse">
            <a:avLst/>
          </a:prstGeom>
          <a:solidFill>
            <a:srgbClr val="5B6472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925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Égypte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7370" y="4341751"/>
            <a:ext cx="146304" cy="146304"/>
          </a:xfrm>
          <a:prstGeom prst="ellipse">
            <a:avLst/>
          </a:prstGeom>
          <a:solidFill>
            <a:srgbClr val="5B6472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682" y="427774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1600200"/>
            <a:ext cx="3596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STATUT PAR MARCHÉ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1947672"/>
            <a:ext cx="3596335" cy="0"/>
          </a:xfrm>
          <a:prstGeom prst="line">
            <a:avLst/>
          </a:prstGeom>
          <a:noFill/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249424"/>
            <a:ext cx="146304" cy="146304"/>
          </a:xfrm>
          <a:prstGeom prst="ellipse">
            <a:avLst/>
          </a:prstGeom>
          <a:solidFill>
            <a:srgbClr val="C9A86A"/>
          </a:solidFill>
          <a:ln w="15875">
            <a:solidFill>
              <a:srgbClr val="C9A8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2194560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PRÉPARATION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48716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 : pack de règles en cours, à valider par un juriste émirati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209544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3154680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APRÈS UN PILOTE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44728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Arabie saoudite : projets Wafi, escrow projet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4169664"/>
            <a:ext cx="146304" cy="146304"/>
          </a:xfrm>
          <a:prstGeom prst="ellipse">
            <a:avLst/>
          </a:prstGeom>
          <a:solidFill>
            <a:srgbClr val="5B6472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4114800"/>
            <a:ext cx="3276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40740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Autres marchés, seulement après une preuve dans le Golfe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3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822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Citation d'un promoteur ou d'un partenaire : une phrase forte, vérifiée et autorisée par son auteur.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 · SOCIÉTÉ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étudiants de SKEMA, concentrés sur un seul problème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: format carré, fond neutre, même cadrage pour toute l'équipe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1037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6" name="Image 0" descr="Photo à insé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677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Jennifer El Karaki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ET PROCESSUS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5397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MSc Strategic Management and Consulting, SKEMA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11791" y="1691640"/>
            <a:ext cx="1737360" cy="1737360"/>
          </a:xfrm>
          <a:prstGeom prst="ellipse">
            <a:avLst/>
          </a:prstGeom>
          <a:solidFill>
            <a:srgbClr val="F4F5F7"/>
          </a:solidFill>
          <a:ln w="19050">
            <a:solidFill>
              <a:srgbClr val="8A6A3A"/>
            </a:solidFill>
            <a:prstDash val="solid"/>
          </a:ln>
        </p:spPr>
      </p:sp>
      <p:pic>
        <p:nvPicPr>
          <p:cNvPr id="12" name="Image 1" descr="Photo à insé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431" y="22402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79394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Karam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79394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 ET PROTOTYPE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06151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0834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Moteur agentique et POC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642544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18" name="Image 2" descr="Photo à insér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184" y="22402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0148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Dhruv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0148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FONDATEUR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236904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1588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473298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24" name="Image 3" descr="Photo à insér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938" y="224028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40901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Thomas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40901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FONDATEUR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0067658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132341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 en une phrase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rôle · e-mail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haldennn.netlify.app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alden">
  <a:themeElements>
    <a:clrScheme name="Halden">
      <a:dk1>
        <a:srgbClr val="0B1426"/>
      </a:dk1>
      <a:lt1>
        <a:srgbClr val="FFFFFF"/>
      </a:lt1>
      <a:dk2>
        <a:srgbClr val="0B1426"/>
      </a:dk2>
      <a:lt2>
        <a:srgbClr val="F4F5F7"/>
      </a:lt2>
      <a:accent1>
        <a:srgbClr val="0B1426"/>
      </a:accent1>
      <a:accent2>
        <a:srgbClr val="C9A86A"/>
      </a:accent2>
      <a:accent3>
        <a:srgbClr val="8A6A3A"/>
      </a:accent3>
      <a:accent4>
        <a:srgbClr val="5B6472"/>
      </a:accent4>
      <a:accent5>
        <a:srgbClr val="050A15"/>
      </a:accent5>
      <a:accent6>
        <a:srgbClr val="B42318"/>
      </a:accent6>
      <a:hlink>
        <a:srgbClr val="8A6A3A"/>
      </a:hlink>
      <a:folHlink>
        <a:srgbClr val="5B6472"/>
      </a:folHlink>
    </a:clrScheme>
    <a:fontScheme name="Halde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Halden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 : template</dc:title>
  <dc:subject>PptxGenJS Presentation</dc:subject>
  <dc:creator>Halden</dc:creator>
  <cp:lastModifiedBy>Halden</cp:lastModifiedBy>
  <cp:revision>1</cp:revision>
  <dcterms:created xsi:type="dcterms:W3CDTF">2026-10-25T16:23:22Z</dcterms:created>
  <dcterms:modified xsi:type="dcterms:W3CDTF">2026-10-25T16:23:22Z</dcterms:modified>
</cp:coreProperties>
</file>